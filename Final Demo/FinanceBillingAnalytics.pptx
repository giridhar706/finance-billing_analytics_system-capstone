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8" d="100"/>
          <a:sy n="98" d="100"/>
        </p:scale>
        <p:origin x="1018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97B8F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97B8F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97B8F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97B8F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97B8F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97B8F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6060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649" y="333692"/>
            <a:ext cx="5337810" cy="414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97B8F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3418" y="1766379"/>
            <a:ext cx="3813810" cy="1226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97B8F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mailto:giridhargopal706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dirty="0"/>
              <a:t>Finance</a:t>
            </a:r>
            <a:r>
              <a:rPr sz="2550" spc="-240" dirty="0"/>
              <a:t> </a:t>
            </a:r>
            <a:r>
              <a:rPr sz="2550" spc="65" dirty="0"/>
              <a:t>Billing</a:t>
            </a:r>
            <a:r>
              <a:rPr sz="2550" spc="-235" dirty="0"/>
              <a:t> </a:t>
            </a:r>
            <a:r>
              <a:rPr sz="2550" spc="70" dirty="0"/>
              <a:t>Analytics</a:t>
            </a:r>
            <a:r>
              <a:rPr sz="2550" spc="-240" dirty="0"/>
              <a:t> </a:t>
            </a:r>
            <a:r>
              <a:rPr sz="2550" spc="-10" dirty="0"/>
              <a:t>System</a:t>
            </a:r>
            <a:endParaRPr sz="2550"/>
          </a:p>
        </p:txBody>
      </p:sp>
      <p:sp>
        <p:nvSpPr>
          <p:cNvPr id="3" name="object 3"/>
          <p:cNvSpPr txBox="1"/>
          <p:nvPr/>
        </p:nvSpPr>
        <p:spPr>
          <a:xfrm>
            <a:off x="444649" y="930626"/>
            <a:ext cx="610171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90" dirty="0">
                <a:solidFill>
                  <a:srgbClr val="E0D6DE"/>
                </a:solidFill>
                <a:latin typeface="Lucida Sans Unicode"/>
                <a:cs typeface="Lucida Sans Unicode"/>
              </a:rPr>
              <a:t>A</a:t>
            </a:r>
            <a:r>
              <a:rPr sz="100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65" dirty="0">
                <a:solidFill>
                  <a:srgbClr val="E0D6DE"/>
                </a:solidFill>
                <a:latin typeface="Lucida Sans Unicode"/>
                <a:cs typeface="Lucida Sans Unicode"/>
              </a:rPr>
              <a:t>full-</a:t>
            </a:r>
            <a:r>
              <a:rPr sz="100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stack,</a:t>
            </a:r>
            <a:r>
              <a:rPr sz="100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 enterprise-</a:t>
            </a:r>
            <a:r>
              <a:rPr sz="1000" spc="-60" dirty="0">
                <a:solidFill>
                  <a:srgbClr val="E0D6DE"/>
                </a:solidFill>
                <a:latin typeface="Lucida Sans Unicode"/>
                <a:cs typeface="Lucida Sans Unicode"/>
              </a:rPr>
              <a:t>grade</a:t>
            </a:r>
            <a:r>
              <a:rPr sz="100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billing</a:t>
            </a:r>
            <a:r>
              <a:rPr sz="100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platform</a:t>
            </a:r>
            <a:r>
              <a:rPr sz="100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built</a:t>
            </a:r>
            <a:r>
              <a:rPr sz="100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for</a:t>
            </a:r>
            <a:r>
              <a:rPr sz="100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 accuracy,</a:t>
            </a:r>
            <a:r>
              <a:rPr sz="100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security,</a:t>
            </a:r>
            <a:r>
              <a:rPr sz="100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and</a:t>
            </a:r>
            <a:r>
              <a:rPr sz="100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75" dirty="0">
                <a:solidFill>
                  <a:srgbClr val="E0D6DE"/>
                </a:solidFill>
                <a:latin typeface="Lucida Sans Unicode"/>
                <a:cs typeface="Lucida Sans Unicode"/>
              </a:rPr>
              <a:t>real-</a:t>
            </a:r>
            <a:r>
              <a:rPr sz="10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time</a:t>
            </a:r>
            <a:r>
              <a:rPr sz="100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ﬁnancial</a:t>
            </a:r>
            <a:r>
              <a:rPr sz="100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insight.</a:t>
            </a:r>
            <a:endParaRPr sz="1000">
              <a:latin typeface="Lucida Sans Unicode"/>
              <a:cs typeface="Lucida Sans Unicod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349" y="1420267"/>
            <a:ext cx="5921275" cy="289299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6702177" y="1420266"/>
            <a:ext cx="1989455" cy="409575"/>
          </a:xfrm>
          <a:custGeom>
            <a:avLst/>
            <a:gdLst/>
            <a:ahLst/>
            <a:cxnLst/>
            <a:rect l="l" t="t" r="r" b="b"/>
            <a:pathLst>
              <a:path w="1989454" h="409575">
                <a:moveTo>
                  <a:pt x="0" y="15683"/>
                </a:moveTo>
                <a:lnTo>
                  <a:pt x="0" y="7021"/>
                </a:lnTo>
                <a:lnTo>
                  <a:pt x="7020" y="0"/>
                </a:lnTo>
                <a:lnTo>
                  <a:pt x="15682" y="0"/>
                </a:lnTo>
                <a:lnTo>
                  <a:pt x="1973477" y="0"/>
                </a:lnTo>
                <a:lnTo>
                  <a:pt x="1977637" y="0"/>
                </a:lnTo>
                <a:lnTo>
                  <a:pt x="1981626" y="1652"/>
                </a:lnTo>
                <a:lnTo>
                  <a:pt x="1984567" y="4593"/>
                </a:lnTo>
                <a:lnTo>
                  <a:pt x="1987509" y="7534"/>
                </a:lnTo>
                <a:lnTo>
                  <a:pt x="1989161" y="11523"/>
                </a:lnTo>
                <a:lnTo>
                  <a:pt x="1989161" y="15683"/>
                </a:lnTo>
                <a:lnTo>
                  <a:pt x="1989161" y="393593"/>
                </a:lnTo>
                <a:lnTo>
                  <a:pt x="1989161" y="402255"/>
                </a:lnTo>
                <a:lnTo>
                  <a:pt x="1982139" y="409276"/>
                </a:lnTo>
                <a:lnTo>
                  <a:pt x="1973477" y="409276"/>
                </a:lnTo>
                <a:lnTo>
                  <a:pt x="15682" y="409276"/>
                </a:lnTo>
                <a:lnTo>
                  <a:pt x="7020" y="409276"/>
                </a:lnTo>
                <a:lnTo>
                  <a:pt x="0" y="402255"/>
                </a:lnTo>
                <a:lnTo>
                  <a:pt x="0" y="393593"/>
                </a:lnTo>
                <a:lnTo>
                  <a:pt x="0" y="15683"/>
                </a:lnTo>
                <a:close/>
              </a:path>
            </a:pathLst>
          </a:custGeom>
          <a:ln w="9524">
            <a:solidFill>
              <a:srgbClr val="97B8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17631" y="1965051"/>
            <a:ext cx="1158875" cy="239395"/>
          </a:xfrm>
          <a:custGeom>
            <a:avLst/>
            <a:gdLst/>
            <a:ahLst/>
            <a:cxnLst/>
            <a:rect l="l" t="t" r="r" b="b"/>
            <a:pathLst>
              <a:path w="1158875" h="239394">
                <a:moveTo>
                  <a:pt x="1151233" y="239017"/>
                </a:moveTo>
                <a:lnTo>
                  <a:pt x="7021" y="239017"/>
                </a:lnTo>
                <a:lnTo>
                  <a:pt x="0" y="231996"/>
                </a:lnTo>
                <a:lnTo>
                  <a:pt x="0" y="15681"/>
                </a:lnTo>
                <a:lnTo>
                  <a:pt x="0" y="7020"/>
                </a:lnTo>
                <a:lnTo>
                  <a:pt x="7021" y="0"/>
                </a:lnTo>
                <a:lnTo>
                  <a:pt x="1146731" y="0"/>
                </a:lnTo>
                <a:lnTo>
                  <a:pt x="1150720" y="1652"/>
                </a:lnTo>
                <a:lnTo>
                  <a:pt x="1153661" y="4593"/>
                </a:lnTo>
                <a:lnTo>
                  <a:pt x="1156602" y="7534"/>
                </a:lnTo>
                <a:lnTo>
                  <a:pt x="1158254" y="11522"/>
                </a:lnTo>
                <a:lnTo>
                  <a:pt x="1158254" y="231996"/>
                </a:lnTo>
                <a:lnTo>
                  <a:pt x="1151233" y="239017"/>
                </a:lnTo>
                <a:close/>
              </a:path>
            </a:pathLst>
          </a:custGeom>
          <a:solidFill>
            <a:srgbClr val="0018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224638" y="2269406"/>
            <a:ext cx="944244" cy="239395"/>
          </a:xfrm>
          <a:custGeom>
            <a:avLst/>
            <a:gdLst/>
            <a:ahLst/>
            <a:cxnLst/>
            <a:rect l="l" t="t" r="r" b="b"/>
            <a:pathLst>
              <a:path w="944245" h="239394">
                <a:moveTo>
                  <a:pt x="937144" y="239017"/>
                </a:moveTo>
                <a:lnTo>
                  <a:pt x="7021" y="239017"/>
                </a:lnTo>
                <a:lnTo>
                  <a:pt x="0" y="231996"/>
                </a:lnTo>
                <a:lnTo>
                  <a:pt x="0" y="15681"/>
                </a:lnTo>
                <a:lnTo>
                  <a:pt x="0" y="7021"/>
                </a:lnTo>
                <a:lnTo>
                  <a:pt x="7021" y="0"/>
                </a:lnTo>
                <a:lnTo>
                  <a:pt x="932642" y="0"/>
                </a:lnTo>
                <a:lnTo>
                  <a:pt x="936631" y="1652"/>
                </a:lnTo>
                <a:lnTo>
                  <a:pt x="939572" y="4593"/>
                </a:lnTo>
                <a:lnTo>
                  <a:pt x="942513" y="7533"/>
                </a:lnTo>
                <a:lnTo>
                  <a:pt x="944165" y="11522"/>
                </a:lnTo>
                <a:lnTo>
                  <a:pt x="944165" y="231996"/>
                </a:lnTo>
                <a:lnTo>
                  <a:pt x="937144" y="239017"/>
                </a:lnTo>
                <a:close/>
              </a:path>
            </a:pathLst>
          </a:custGeom>
          <a:solidFill>
            <a:srgbClr val="0018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03131" y="2573758"/>
            <a:ext cx="987425" cy="239395"/>
          </a:xfrm>
          <a:custGeom>
            <a:avLst/>
            <a:gdLst/>
            <a:ahLst/>
            <a:cxnLst/>
            <a:rect l="l" t="t" r="r" b="b"/>
            <a:pathLst>
              <a:path w="987425" h="239394">
                <a:moveTo>
                  <a:pt x="980229" y="239017"/>
                </a:moveTo>
                <a:lnTo>
                  <a:pt x="7020" y="239017"/>
                </a:lnTo>
                <a:lnTo>
                  <a:pt x="0" y="231996"/>
                </a:lnTo>
                <a:lnTo>
                  <a:pt x="0" y="15681"/>
                </a:lnTo>
                <a:lnTo>
                  <a:pt x="0" y="7020"/>
                </a:lnTo>
                <a:lnTo>
                  <a:pt x="7020" y="0"/>
                </a:lnTo>
                <a:lnTo>
                  <a:pt x="975727" y="0"/>
                </a:lnTo>
                <a:lnTo>
                  <a:pt x="979717" y="1652"/>
                </a:lnTo>
                <a:lnTo>
                  <a:pt x="985598" y="7534"/>
                </a:lnTo>
                <a:lnTo>
                  <a:pt x="987250" y="11522"/>
                </a:lnTo>
                <a:lnTo>
                  <a:pt x="987250" y="231996"/>
                </a:lnTo>
                <a:lnTo>
                  <a:pt x="980229" y="239017"/>
                </a:lnTo>
                <a:close/>
              </a:path>
            </a:pathLst>
          </a:custGeom>
          <a:solidFill>
            <a:srgbClr val="0018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772596" y="1413269"/>
            <a:ext cx="1624965" cy="1330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8000"/>
              </a:lnSpc>
              <a:spcBef>
                <a:spcPts val="100"/>
              </a:spcBef>
            </a:pPr>
            <a:r>
              <a:rPr sz="800" spc="-65" dirty="0">
                <a:solidFill>
                  <a:srgbClr val="97B8FF"/>
                </a:solidFill>
                <a:latin typeface="Lucida Sans Unicode"/>
                <a:cs typeface="Lucida Sans Unicode"/>
              </a:rPr>
              <a:t>MVC</a:t>
            </a:r>
            <a:r>
              <a:rPr sz="800" spc="-45" dirty="0">
                <a:solidFill>
                  <a:srgbClr val="97B8FF"/>
                </a:solidFill>
                <a:latin typeface="Lucida Sans Unicode"/>
                <a:cs typeface="Lucida Sans Unicode"/>
              </a:rPr>
              <a:t> </a:t>
            </a:r>
            <a:r>
              <a:rPr sz="800" spc="300" dirty="0">
                <a:solidFill>
                  <a:srgbClr val="97B8FF"/>
                </a:solidFill>
                <a:latin typeface="Lucida Sans Unicode"/>
                <a:cs typeface="Lucida Sans Unicode"/>
              </a:rPr>
              <a:t>·</a:t>
            </a:r>
            <a:r>
              <a:rPr sz="800" spc="-40" dirty="0">
                <a:solidFill>
                  <a:srgbClr val="97B8FF"/>
                </a:solidFill>
                <a:latin typeface="Lucida Sans Unicode"/>
                <a:cs typeface="Lucida Sans Unicode"/>
              </a:rPr>
              <a:t> </a:t>
            </a:r>
            <a:r>
              <a:rPr sz="800" dirty="0">
                <a:solidFill>
                  <a:srgbClr val="97B8FF"/>
                </a:solidFill>
                <a:latin typeface="Lucida Sans Unicode"/>
                <a:cs typeface="Lucida Sans Unicode"/>
              </a:rPr>
              <a:t>WEB</a:t>
            </a:r>
            <a:r>
              <a:rPr sz="800" spc="-45" dirty="0">
                <a:solidFill>
                  <a:srgbClr val="97B8FF"/>
                </a:solidFill>
                <a:latin typeface="Lucida Sans Unicode"/>
                <a:cs typeface="Lucida Sans Unicode"/>
              </a:rPr>
              <a:t> </a:t>
            </a:r>
            <a:r>
              <a:rPr sz="800" dirty="0">
                <a:solidFill>
                  <a:srgbClr val="97B8FF"/>
                </a:solidFill>
                <a:latin typeface="Lucida Sans Unicode"/>
                <a:cs typeface="Lucida Sans Unicode"/>
              </a:rPr>
              <a:t>API</a:t>
            </a:r>
            <a:r>
              <a:rPr sz="800" spc="-40" dirty="0">
                <a:solidFill>
                  <a:srgbClr val="97B8FF"/>
                </a:solidFill>
                <a:latin typeface="Lucida Sans Unicode"/>
                <a:cs typeface="Lucida Sans Unicode"/>
              </a:rPr>
              <a:t> </a:t>
            </a:r>
            <a:r>
              <a:rPr sz="800" spc="300" dirty="0">
                <a:solidFill>
                  <a:srgbClr val="97B8FF"/>
                </a:solidFill>
                <a:latin typeface="Lucida Sans Unicode"/>
                <a:cs typeface="Lucida Sans Unicode"/>
              </a:rPr>
              <a:t>·</a:t>
            </a:r>
            <a:r>
              <a:rPr sz="800" spc="-40" dirty="0">
                <a:solidFill>
                  <a:srgbClr val="97B8FF"/>
                </a:solidFill>
                <a:latin typeface="Lucida Sans Unicode"/>
                <a:cs typeface="Lucida Sans Unicode"/>
              </a:rPr>
              <a:t> </a:t>
            </a:r>
            <a:r>
              <a:rPr sz="800" dirty="0">
                <a:solidFill>
                  <a:srgbClr val="97B8FF"/>
                </a:solidFill>
                <a:latin typeface="Lucida Sans Unicode"/>
                <a:cs typeface="Lucida Sans Unicode"/>
              </a:rPr>
              <a:t>SQL</a:t>
            </a:r>
            <a:r>
              <a:rPr sz="800" spc="-45" dirty="0">
                <a:solidFill>
                  <a:srgbClr val="97B8FF"/>
                </a:solidFill>
                <a:latin typeface="Lucida Sans Unicode"/>
                <a:cs typeface="Lucida Sans Unicode"/>
              </a:rPr>
              <a:t> </a:t>
            </a:r>
            <a:r>
              <a:rPr sz="800" dirty="0">
                <a:solidFill>
                  <a:srgbClr val="97B8FF"/>
                </a:solidFill>
                <a:latin typeface="Lucida Sans Unicode"/>
                <a:cs typeface="Lucida Sans Unicode"/>
              </a:rPr>
              <a:t>SERVER</a:t>
            </a:r>
            <a:r>
              <a:rPr sz="800" spc="-40" dirty="0">
                <a:solidFill>
                  <a:srgbClr val="97B8FF"/>
                </a:solidFill>
                <a:latin typeface="Lucida Sans Unicode"/>
                <a:cs typeface="Lucida Sans Unicode"/>
              </a:rPr>
              <a:t> </a:t>
            </a:r>
            <a:r>
              <a:rPr sz="800" spc="250" dirty="0">
                <a:solidFill>
                  <a:srgbClr val="97B8FF"/>
                </a:solidFill>
                <a:latin typeface="Lucida Sans Unicode"/>
                <a:cs typeface="Lucida Sans Unicode"/>
              </a:rPr>
              <a:t>· </a:t>
            </a:r>
            <a:r>
              <a:rPr sz="800" spc="-25" dirty="0">
                <a:solidFill>
                  <a:srgbClr val="97B8FF"/>
                </a:solidFill>
                <a:latin typeface="Lucida Sans Unicode"/>
                <a:cs typeface="Lucida Sans Unicode"/>
              </a:rPr>
              <a:t>DOCKER</a:t>
            </a:r>
            <a:r>
              <a:rPr sz="800" spc="-50" dirty="0">
                <a:solidFill>
                  <a:srgbClr val="97B8FF"/>
                </a:solidFill>
                <a:latin typeface="Lucida Sans Unicode"/>
                <a:cs typeface="Lucida Sans Unicode"/>
              </a:rPr>
              <a:t> </a:t>
            </a:r>
            <a:r>
              <a:rPr sz="800" spc="300" dirty="0">
                <a:solidFill>
                  <a:srgbClr val="97B8FF"/>
                </a:solidFill>
                <a:latin typeface="Lucida Sans Unicode"/>
                <a:cs typeface="Lucida Sans Unicode"/>
              </a:rPr>
              <a:t>·</a:t>
            </a:r>
            <a:r>
              <a:rPr sz="800" spc="-50" dirty="0">
                <a:solidFill>
                  <a:srgbClr val="97B8FF"/>
                </a:solidFill>
                <a:latin typeface="Lucida Sans Unicode"/>
                <a:cs typeface="Lucida Sans Unicode"/>
              </a:rPr>
              <a:t> </a:t>
            </a:r>
            <a:r>
              <a:rPr sz="800" spc="-10" dirty="0">
                <a:solidFill>
                  <a:srgbClr val="97B8FF"/>
                </a:solidFill>
                <a:latin typeface="Lucida Sans Unicode"/>
                <a:cs typeface="Lucida Sans Unicode"/>
              </a:rPr>
              <a:t>AZURE</a:t>
            </a:r>
            <a:endParaRPr sz="800" dirty="0">
              <a:latin typeface="Lucida Sans Unicode"/>
              <a:cs typeface="Lucida Sans Unicode"/>
            </a:endParaRPr>
          </a:p>
          <a:p>
            <a:pPr marL="422909" marR="219075" algn="ctr">
              <a:lnSpc>
                <a:spcPct val="249600"/>
              </a:lnSpc>
              <a:spcBef>
                <a:spcPts val="625"/>
              </a:spcBef>
            </a:pPr>
            <a:r>
              <a:rPr sz="8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CAPSTONE</a:t>
            </a:r>
            <a:r>
              <a:rPr sz="800" spc="-1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PROJECT </a:t>
            </a:r>
            <a:r>
              <a:rPr sz="800" dirty="0">
                <a:solidFill>
                  <a:srgbClr val="E0D6DE"/>
                </a:solidFill>
                <a:latin typeface="Lucida Sans Unicode"/>
                <a:cs typeface="Lucida Sans Unicode"/>
              </a:rPr>
              <a:t>PRESENTED</a:t>
            </a:r>
            <a:r>
              <a:rPr sz="800" spc="-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BY</a:t>
            </a:r>
            <a:r>
              <a:rPr sz="80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00" spc="-50" dirty="0">
                <a:solidFill>
                  <a:srgbClr val="E0D6DE"/>
                </a:solidFill>
                <a:latin typeface="Lucida Sans Unicode"/>
                <a:cs typeface="Lucida Sans Unicode"/>
              </a:rPr>
              <a:t>:</a:t>
            </a:r>
            <a:r>
              <a:rPr sz="8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 GIRIDHAR</a:t>
            </a:r>
            <a:r>
              <a:rPr sz="80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GOPAL</a:t>
            </a:r>
            <a:endParaRPr sz="8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350" dirty="0"/>
              <a:t>Executive</a:t>
            </a:r>
            <a:r>
              <a:rPr sz="2350" spc="-110" dirty="0"/>
              <a:t> </a:t>
            </a:r>
            <a:r>
              <a:rPr sz="2350" spc="-10" dirty="0"/>
              <a:t>Summary</a:t>
            </a:r>
            <a:endParaRPr sz="23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393" y="1035323"/>
            <a:ext cx="5002633" cy="333508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013623" y="1886768"/>
            <a:ext cx="2708910" cy="1907539"/>
          </a:xfrm>
          <a:custGeom>
            <a:avLst/>
            <a:gdLst/>
            <a:ahLst/>
            <a:cxnLst/>
            <a:rect l="l" t="t" r="r" b="b"/>
            <a:pathLst>
              <a:path w="2708909" h="1907539">
                <a:moveTo>
                  <a:pt x="0" y="18274"/>
                </a:moveTo>
                <a:lnTo>
                  <a:pt x="1436" y="11161"/>
                </a:lnTo>
                <a:lnTo>
                  <a:pt x="5352" y="5352"/>
                </a:lnTo>
                <a:lnTo>
                  <a:pt x="11161" y="1436"/>
                </a:lnTo>
                <a:lnTo>
                  <a:pt x="18274" y="0"/>
                </a:lnTo>
                <a:lnTo>
                  <a:pt x="2690398" y="0"/>
                </a:lnTo>
                <a:lnTo>
                  <a:pt x="2695244" y="0"/>
                </a:lnTo>
                <a:lnTo>
                  <a:pt x="2699892" y="1925"/>
                </a:lnTo>
                <a:lnTo>
                  <a:pt x="2703319" y="5352"/>
                </a:lnTo>
                <a:lnTo>
                  <a:pt x="2706746" y="8779"/>
                </a:lnTo>
                <a:lnTo>
                  <a:pt x="2708672" y="13427"/>
                </a:lnTo>
                <a:lnTo>
                  <a:pt x="2708672" y="18274"/>
                </a:lnTo>
                <a:lnTo>
                  <a:pt x="2708672" y="1889255"/>
                </a:lnTo>
                <a:lnTo>
                  <a:pt x="2707236" y="1896369"/>
                </a:lnTo>
                <a:lnTo>
                  <a:pt x="2703319" y="1902177"/>
                </a:lnTo>
                <a:lnTo>
                  <a:pt x="2697511" y="1906093"/>
                </a:lnTo>
                <a:lnTo>
                  <a:pt x="2690398" y="1907529"/>
                </a:lnTo>
                <a:lnTo>
                  <a:pt x="18274" y="1907529"/>
                </a:lnTo>
                <a:lnTo>
                  <a:pt x="11161" y="1906093"/>
                </a:lnTo>
                <a:lnTo>
                  <a:pt x="5352" y="1902177"/>
                </a:lnTo>
                <a:lnTo>
                  <a:pt x="1436" y="1896369"/>
                </a:lnTo>
                <a:lnTo>
                  <a:pt x="0" y="1889255"/>
                </a:lnTo>
                <a:lnTo>
                  <a:pt x="0" y="18274"/>
                </a:lnTo>
                <a:close/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018386" y="1891531"/>
          <a:ext cx="2699385" cy="1897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5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6230"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950" spc="-10" dirty="0">
                          <a:solidFill>
                            <a:srgbClr val="E0D6DE"/>
                          </a:solidFill>
                          <a:latin typeface="Lucida Sans Unicode"/>
                          <a:cs typeface="Lucida Sans Unicode"/>
                        </a:rPr>
                        <a:t>Metric</a:t>
                      </a:r>
                      <a:endParaRPr sz="950">
                        <a:latin typeface="Lucida Sans Unicode"/>
                        <a:cs typeface="Lucida Sans Unicode"/>
                      </a:endParaRPr>
                    </a:p>
                  </a:txBody>
                  <a:tcPr marL="0" marR="0" marT="62865" marB="0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950" spc="-10" dirty="0">
                          <a:solidFill>
                            <a:srgbClr val="E0D6DE"/>
                          </a:solidFill>
                          <a:latin typeface="Lucida Sans Unicode"/>
                          <a:cs typeface="Lucida Sans Unicode"/>
                        </a:rPr>
                        <a:t>Value</a:t>
                      </a:r>
                      <a:endParaRPr sz="950">
                        <a:latin typeface="Lucida Sans Unicode"/>
                        <a:cs typeface="Lucida Sans Unicode"/>
                      </a:endParaRPr>
                    </a:p>
                  </a:txBody>
                  <a:tcPr marL="0" marR="0" marT="62865" marB="0">
                    <a:solidFill>
                      <a:srgbClr val="FFFFFF">
                        <a:alpha val="392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230"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950" spc="-10" dirty="0">
                          <a:solidFill>
                            <a:srgbClr val="E0D6DE"/>
                          </a:solidFill>
                          <a:latin typeface="Lucida Sans Unicode"/>
                          <a:cs typeface="Lucida Sans Unicode"/>
                        </a:rPr>
                        <a:t>APIs</a:t>
                      </a:r>
                      <a:r>
                        <a:rPr sz="950" spc="-90" dirty="0">
                          <a:solidFill>
                            <a:srgbClr val="E0D6DE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950" spc="-10" dirty="0">
                          <a:solidFill>
                            <a:srgbClr val="E0D6DE"/>
                          </a:solidFill>
                          <a:latin typeface="Lucida Sans Unicode"/>
                          <a:cs typeface="Lucida Sans Unicode"/>
                        </a:rPr>
                        <a:t>Developed</a:t>
                      </a:r>
                      <a:endParaRPr sz="950">
                        <a:latin typeface="Lucida Sans Unicode"/>
                        <a:cs typeface="Lucida Sans Unicode"/>
                      </a:endParaRPr>
                    </a:p>
                  </a:txBody>
                  <a:tcPr marL="0" marR="0" marT="62865" marB="0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950" spc="-25" dirty="0">
                          <a:solidFill>
                            <a:srgbClr val="E0D6DE"/>
                          </a:solidFill>
                          <a:latin typeface="Lucida Sans Unicode"/>
                          <a:cs typeface="Lucida Sans Unicode"/>
                        </a:rPr>
                        <a:t>8+</a:t>
                      </a:r>
                      <a:endParaRPr sz="950">
                        <a:latin typeface="Lucida Sans Unicode"/>
                        <a:cs typeface="Lucida Sans Unicode"/>
                      </a:endParaRPr>
                    </a:p>
                  </a:txBody>
                  <a:tcPr marL="0" marR="0" marT="62865" marB="0">
                    <a:solidFill>
                      <a:srgbClr val="000000">
                        <a:alpha val="392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230"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950" spc="-30" dirty="0">
                          <a:solidFill>
                            <a:srgbClr val="E0D6DE"/>
                          </a:solidFill>
                          <a:latin typeface="Lucida Sans Unicode"/>
                          <a:cs typeface="Lucida Sans Unicode"/>
                        </a:rPr>
                        <a:t>Database</a:t>
                      </a:r>
                      <a:r>
                        <a:rPr sz="950" spc="-15" dirty="0">
                          <a:solidFill>
                            <a:srgbClr val="E0D6DE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950" spc="-10" dirty="0">
                          <a:solidFill>
                            <a:srgbClr val="E0D6DE"/>
                          </a:solidFill>
                          <a:latin typeface="Lucida Sans Unicode"/>
                          <a:cs typeface="Lucida Sans Unicode"/>
                        </a:rPr>
                        <a:t>Tables</a:t>
                      </a:r>
                      <a:endParaRPr sz="950">
                        <a:latin typeface="Lucida Sans Unicode"/>
                        <a:cs typeface="Lucida Sans Unicode"/>
                      </a:endParaRPr>
                    </a:p>
                  </a:txBody>
                  <a:tcPr marL="0" marR="0" marT="62865" marB="0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950" spc="-50" dirty="0">
                          <a:solidFill>
                            <a:srgbClr val="E0D6DE"/>
                          </a:solidFill>
                          <a:latin typeface="Lucida Sans Unicode"/>
                          <a:cs typeface="Lucida Sans Unicode"/>
                        </a:rPr>
                        <a:t>4</a:t>
                      </a:r>
                      <a:endParaRPr sz="950">
                        <a:latin typeface="Lucida Sans Unicode"/>
                        <a:cs typeface="Lucida Sans Unicode"/>
                      </a:endParaRPr>
                    </a:p>
                  </a:txBody>
                  <a:tcPr marL="0" marR="0" marT="62865" marB="0">
                    <a:solidFill>
                      <a:srgbClr val="FFFFFF">
                        <a:alpha val="392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230"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950" dirty="0">
                          <a:solidFill>
                            <a:srgbClr val="E0D6DE"/>
                          </a:solidFill>
                          <a:latin typeface="Lucida Sans Unicode"/>
                          <a:cs typeface="Lucida Sans Unicode"/>
                        </a:rPr>
                        <a:t>Unit</a:t>
                      </a:r>
                      <a:r>
                        <a:rPr sz="950" spc="-90" dirty="0">
                          <a:solidFill>
                            <a:srgbClr val="E0D6DE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950" spc="-10" dirty="0">
                          <a:solidFill>
                            <a:srgbClr val="E0D6DE"/>
                          </a:solidFill>
                          <a:latin typeface="Lucida Sans Unicode"/>
                          <a:cs typeface="Lucida Sans Unicode"/>
                        </a:rPr>
                        <a:t>Tests</a:t>
                      </a:r>
                      <a:endParaRPr sz="950">
                        <a:latin typeface="Lucida Sans Unicode"/>
                        <a:cs typeface="Lucida Sans Unicode"/>
                      </a:endParaRPr>
                    </a:p>
                  </a:txBody>
                  <a:tcPr marL="0" marR="0" marT="62865" marB="0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950" spc="-25" dirty="0">
                          <a:solidFill>
                            <a:srgbClr val="E0D6DE"/>
                          </a:solidFill>
                          <a:latin typeface="Lucida Sans Unicode"/>
                          <a:cs typeface="Lucida Sans Unicode"/>
                        </a:rPr>
                        <a:t>12</a:t>
                      </a:r>
                      <a:endParaRPr sz="950">
                        <a:latin typeface="Lucida Sans Unicode"/>
                        <a:cs typeface="Lucida Sans Unicode"/>
                      </a:endParaRPr>
                    </a:p>
                  </a:txBody>
                  <a:tcPr marL="0" marR="0" marT="62865" marB="0">
                    <a:solidFill>
                      <a:srgbClr val="000000">
                        <a:alpha val="392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230"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950" spc="-10" dirty="0">
                          <a:solidFill>
                            <a:srgbClr val="E0D6DE"/>
                          </a:solidFill>
                          <a:latin typeface="Lucida Sans Unicode"/>
                          <a:cs typeface="Lucida Sans Unicode"/>
                        </a:rPr>
                        <a:t>Authentication</a:t>
                      </a:r>
                      <a:endParaRPr sz="950">
                        <a:latin typeface="Lucida Sans Unicode"/>
                        <a:cs typeface="Lucida Sans Unicode"/>
                      </a:endParaRPr>
                    </a:p>
                  </a:txBody>
                  <a:tcPr marL="0" marR="0" marT="62865" marB="0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950" spc="35" dirty="0">
                          <a:solidFill>
                            <a:srgbClr val="E0D6DE"/>
                          </a:solidFill>
                          <a:latin typeface="Lucida Sans Unicode"/>
                          <a:cs typeface="Lucida Sans Unicode"/>
                        </a:rPr>
                        <a:t>JWT</a:t>
                      </a:r>
                      <a:endParaRPr sz="950">
                        <a:latin typeface="Lucida Sans Unicode"/>
                        <a:cs typeface="Lucida Sans Unicode"/>
                      </a:endParaRPr>
                    </a:p>
                  </a:txBody>
                  <a:tcPr marL="0" marR="0" marT="62865" marB="0">
                    <a:solidFill>
                      <a:srgbClr val="FFFFFF">
                        <a:alpha val="392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230"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950" spc="-10" dirty="0">
                          <a:solidFill>
                            <a:srgbClr val="E0D6DE"/>
                          </a:solidFill>
                          <a:latin typeface="Lucida Sans Unicode"/>
                          <a:cs typeface="Lucida Sans Unicode"/>
                        </a:rPr>
                        <a:t>Deployment</a:t>
                      </a:r>
                      <a:endParaRPr sz="950">
                        <a:latin typeface="Lucida Sans Unicode"/>
                        <a:cs typeface="Lucida Sans Unicode"/>
                      </a:endParaRPr>
                    </a:p>
                  </a:txBody>
                  <a:tcPr marL="0" marR="0" marT="62865" marB="0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950" spc="-10" dirty="0">
                          <a:solidFill>
                            <a:srgbClr val="E0D6DE"/>
                          </a:solidFill>
                          <a:latin typeface="Lucida Sans Unicode"/>
                          <a:cs typeface="Lucida Sans Unicode"/>
                        </a:rPr>
                        <a:t>Docker</a:t>
                      </a:r>
                      <a:endParaRPr sz="950">
                        <a:latin typeface="Lucida Sans Unicode"/>
                        <a:cs typeface="Lucida Sans Unicode"/>
                      </a:endParaRPr>
                    </a:p>
                  </a:txBody>
                  <a:tcPr marL="0" marR="0" marT="62865" marB="0">
                    <a:solidFill>
                      <a:srgbClr val="000000">
                        <a:alpha val="392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3550" y="393953"/>
            <a:ext cx="363283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45" dirty="0">
                <a:latin typeface="Verdana"/>
                <a:cs typeface="Verdana"/>
              </a:rPr>
              <a:t>Project</a:t>
            </a:r>
            <a:r>
              <a:rPr sz="3200" b="1" spc="-360" dirty="0">
                <a:latin typeface="Verdana"/>
                <a:cs typeface="Verdana"/>
              </a:rPr>
              <a:t> </a:t>
            </a:r>
            <a:r>
              <a:rPr sz="3200" b="1" spc="-150" dirty="0">
                <a:latin typeface="Verdana"/>
                <a:cs typeface="Verdana"/>
              </a:rPr>
              <a:t>Overview</a:t>
            </a:r>
            <a:endParaRPr sz="32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71487" y="1328737"/>
            <a:ext cx="2581275" cy="2867660"/>
            <a:chOff x="471487" y="1328737"/>
            <a:chExt cx="2581275" cy="28676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1487" y="1328737"/>
              <a:ext cx="2581199" cy="28670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0250" y="1579880"/>
              <a:ext cx="254000" cy="2540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54050" y="2016708"/>
            <a:ext cx="9277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40" dirty="0">
                <a:solidFill>
                  <a:srgbClr val="97B8FF"/>
                </a:solidFill>
                <a:latin typeface="Verdana"/>
                <a:cs typeface="Verdana"/>
              </a:rPr>
              <a:t>Objective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4050" y="2742132"/>
            <a:ext cx="21488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Launch</a:t>
            </a:r>
            <a:r>
              <a:rPr sz="1100" spc="-7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E0D6DE"/>
                </a:solidFill>
                <a:latin typeface="Lucida Sans Unicode"/>
                <a:cs typeface="Lucida Sans Unicode"/>
              </a:rPr>
              <a:t>a</a:t>
            </a:r>
            <a:r>
              <a:rPr sz="110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secure</a:t>
            </a:r>
            <a:r>
              <a:rPr sz="1100" spc="-7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billing</a:t>
            </a:r>
            <a:r>
              <a:rPr sz="110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platform that</a:t>
            </a:r>
            <a:r>
              <a:rPr sz="1100" spc="-6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automates</a:t>
            </a:r>
            <a:r>
              <a:rPr sz="1100" spc="-6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invoices,</a:t>
            </a:r>
            <a:r>
              <a:rPr sz="1100" spc="-6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tracks </a:t>
            </a:r>
            <a:r>
              <a:rPr sz="110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payments,</a:t>
            </a:r>
            <a:r>
              <a:rPr sz="1100" spc="-6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and</a:t>
            </a:r>
            <a:r>
              <a:rPr sz="1100" spc="-5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surfaces</a:t>
            </a:r>
            <a:r>
              <a:rPr sz="1100" spc="-6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ﬁnancial insights.</a:t>
            </a:r>
            <a:endParaRPr sz="110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281362" y="1328737"/>
            <a:ext cx="2581275" cy="2867660"/>
            <a:chOff x="3281362" y="1328737"/>
            <a:chExt cx="2581275" cy="286766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81362" y="1328737"/>
              <a:ext cx="2581199" cy="28670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14725" y="1630680"/>
              <a:ext cx="304800" cy="15240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463925" y="2016708"/>
            <a:ext cx="12871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14" dirty="0">
                <a:solidFill>
                  <a:srgbClr val="97B8FF"/>
                </a:solidFill>
                <a:latin typeface="Verdana"/>
                <a:cs typeface="Verdana"/>
              </a:rPr>
              <a:t>Primary </a:t>
            </a:r>
            <a:r>
              <a:rPr sz="1400" b="1" spc="-50" dirty="0">
                <a:solidFill>
                  <a:srgbClr val="97B8FF"/>
                </a:solidFill>
                <a:latin typeface="Verdana"/>
                <a:cs typeface="Verdana"/>
              </a:rPr>
              <a:t>Users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63925" y="2909772"/>
            <a:ext cx="219583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E0D6DE"/>
                </a:solidFill>
                <a:latin typeface="Lucida Sans Unicode"/>
                <a:cs typeface="Lucida Sans Unicode"/>
              </a:rPr>
              <a:t>Built</a:t>
            </a:r>
            <a:r>
              <a:rPr sz="1100" spc="-6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for</a:t>
            </a:r>
            <a:r>
              <a:rPr sz="1100" spc="-6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ﬁnance</a:t>
            </a:r>
            <a:r>
              <a:rPr sz="1100" spc="-6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teams,</a:t>
            </a:r>
            <a:r>
              <a:rPr sz="1100" spc="-6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billing </a:t>
            </a:r>
            <a:r>
              <a:rPr sz="11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admins,</a:t>
            </a:r>
            <a:r>
              <a:rPr sz="1100" spc="-6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auditors,</a:t>
            </a:r>
            <a:r>
              <a:rPr sz="1100" spc="-6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and</a:t>
            </a:r>
            <a:r>
              <a:rPr sz="1100" spc="-6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leadership.</a:t>
            </a:r>
            <a:endParaRPr sz="1100">
              <a:latin typeface="Lucida Sans Unicode"/>
              <a:cs typeface="Lucida Sans Unicode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91237" y="1328737"/>
            <a:ext cx="2581275" cy="2867660"/>
            <a:chOff x="6091237" y="1328737"/>
            <a:chExt cx="2581275" cy="2867660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91237" y="1328737"/>
              <a:ext cx="2581199" cy="28670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34125" y="1573530"/>
              <a:ext cx="285750" cy="26670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273800" y="2016708"/>
            <a:ext cx="11525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5" dirty="0">
                <a:solidFill>
                  <a:srgbClr val="97B8FF"/>
                </a:solidFill>
                <a:latin typeface="Verdana"/>
                <a:cs typeface="Verdana"/>
              </a:rPr>
              <a:t>Key</a:t>
            </a:r>
            <a:r>
              <a:rPr sz="1400" b="1" spc="-160" dirty="0">
                <a:solidFill>
                  <a:srgbClr val="97B8FF"/>
                </a:solidFill>
                <a:latin typeface="Verdana"/>
                <a:cs typeface="Verdana"/>
              </a:rPr>
              <a:t> </a:t>
            </a:r>
            <a:r>
              <a:rPr sz="1400" b="1" spc="-60" dirty="0">
                <a:solidFill>
                  <a:srgbClr val="97B8FF"/>
                </a:solidFill>
                <a:latin typeface="Verdana"/>
                <a:cs typeface="Verdana"/>
              </a:rPr>
              <a:t>Beneﬁts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73800" y="2551632"/>
            <a:ext cx="1379855" cy="10007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700"/>
              </a:spcBef>
              <a:buChar char="·"/>
              <a:tabLst>
                <a:tab pos="183515" algn="l"/>
              </a:tabLst>
            </a:pPr>
            <a:r>
              <a:rPr sz="110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Faster</a:t>
            </a:r>
            <a:r>
              <a:rPr sz="1100" spc="-5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workﬂows</a:t>
            </a:r>
            <a:endParaRPr sz="1100">
              <a:latin typeface="Lucida Sans Unicode"/>
              <a:cs typeface="Lucida Sans Unicode"/>
            </a:endParaRPr>
          </a:p>
          <a:p>
            <a:pPr marL="183515" indent="-170815">
              <a:lnSpc>
                <a:spcPct val="100000"/>
              </a:lnSpc>
              <a:spcBef>
                <a:spcPts val="600"/>
              </a:spcBef>
              <a:buChar char="·"/>
              <a:tabLst>
                <a:tab pos="183515" algn="l"/>
              </a:tabLst>
            </a:pPr>
            <a:r>
              <a:rPr sz="11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Live</a:t>
            </a:r>
            <a:r>
              <a:rPr sz="1100" spc="-10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reporting</a:t>
            </a:r>
            <a:endParaRPr sz="1100">
              <a:latin typeface="Lucida Sans Unicode"/>
              <a:cs typeface="Lucida Sans Unicode"/>
            </a:endParaRPr>
          </a:p>
          <a:p>
            <a:pPr marL="183515" indent="-170815">
              <a:lnSpc>
                <a:spcPct val="100000"/>
              </a:lnSpc>
              <a:spcBef>
                <a:spcPts val="600"/>
              </a:spcBef>
              <a:buChar char="·"/>
              <a:tabLst>
                <a:tab pos="183515" algn="l"/>
              </a:tabLst>
            </a:pPr>
            <a:r>
              <a:rPr sz="110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Role-</a:t>
            </a:r>
            <a:r>
              <a:rPr sz="1100" spc="-50" dirty="0">
                <a:solidFill>
                  <a:srgbClr val="E0D6DE"/>
                </a:solidFill>
                <a:latin typeface="Lucida Sans Unicode"/>
                <a:cs typeface="Lucida Sans Unicode"/>
              </a:rPr>
              <a:t>based</a:t>
            </a:r>
            <a:r>
              <a:rPr sz="110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access</a:t>
            </a:r>
            <a:endParaRPr sz="1100">
              <a:latin typeface="Lucida Sans Unicode"/>
              <a:cs typeface="Lucida Sans Unicode"/>
            </a:endParaRPr>
          </a:p>
          <a:p>
            <a:pPr marL="183515" indent="-170815">
              <a:lnSpc>
                <a:spcPct val="100000"/>
              </a:lnSpc>
              <a:spcBef>
                <a:spcPts val="600"/>
              </a:spcBef>
              <a:buChar char="·"/>
              <a:tabLst>
                <a:tab pos="183515" algn="l"/>
              </a:tabLst>
            </a:pPr>
            <a:r>
              <a:rPr sz="11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Full</a:t>
            </a:r>
            <a:r>
              <a:rPr sz="1100" spc="-10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auditability</a:t>
            </a:r>
            <a:endParaRPr sz="11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3550" y="267031"/>
            <a:ext cx="6990715" cy="890269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3200" b="1" spc="-165" dirty="0">
                <a:latin typeface="Verdana"/>
                <a:cs typeface="Verdana"/>
              </a:rPr>
              <a:t>Technology</a:t>
            </a:r>
            <a:r>
              <a:rPr sz="3200" b="1" spc="-340" dirty="0">
                <a:latin typeface="Verdana"/>
                <a:cs typeface="Verdana"/>
              </a:rPr>
              <a:t> </a:t>
            </a:r>
            <a:r>
              <a:rPr sz="3200" b="1" spc="-20" dirty="0">
                <a:latin typeface="Verdana"/>
                <a:cs typeface="Verdana"/>
              </a:rPr>
              <a:t>Stack</a:t>
            </a:r>
            <a:endParaRPr sz="3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300" spc="-125" dirty="0">
                <a:solidFill>
                  <a:srgbClr val="E0D6DE"/>
                </a:solidFill>
                <a:latin typeface="Lucida Sans Unicode"/>
                <a:cs typeface="Lucida Sans Unicode"/>
              </a:rPr>
              <a:t>A</a:t>
            </a:r>
            <a:r>
              <a:rPr sz="1300" spc="-7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30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modern,</a:t>
            </a:r>
            <a:r>
              <a:rPr sz="130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3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layered</a:t>
            </a:r>
            <a:r>
              <a:rPr sz="130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3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architecture</a:t>
            </a:r>
            <a:r>
              <a:rPr sz="130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3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built</a:t>
            </a:r>
            <a:r>
              <a:rPr sz="1300" spc="-7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300" spc="-50" dirty="0">
                <a:solidFill>
                  <a:srgbClr val="E0D6DE"/>
                </a:solidFill>
                <a:latin typeface="Lucida Sans Unicode"/>
                <a:cs typeface="Lucida Sans Unicode"/>
              </a:rPr>
              <a:t>for</a:t>
            </a:r>
            <a:r>
              <a:rPr sz="130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30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performance,</a:t>
            </a:r>
            <a:r>
              <a:rPr sz="130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3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maintainability,</a:t>
            </a:r>
            <a:r>
              <a:rPr sz="130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3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and</a:t>
            </a:r>
            <a:r>
              <a:rPr sz="130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3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cloud</a:t>
            </a:r>
            <a:r>
              <a:rPr sz="1300" spc="-7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3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readiness.</a:t>
            </a:r>
            <a:endParaRPr sz="1300">
              <a:latin typeface="Lucida Sans Unicode"/>
              <a:cs typeface="Lucida Sans Unicod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71487" y="1519237"/>
            <a:ext cx="3962400" cy="1438910"/>
            <a:chOff x="471487" y="1519237"/>
            <a:chExt cx="3962400" cy="1438910"/>
          </a:xfrm>
        </p:grpSpPr>
        <p:sp>
          <p:nvSpPr>
            <p:cNvPr id="4" name="object 4"/>
            <p:cNvSpPr/>
            <p:nvPr/>
          </p:nvSpPr>
          <p:spPr>
            <a:xfrm>
              <a:off x="476250" y="1524000"/>
              <a:ext cx="3952875" cy="1429385"/>
            </a:xfrm>
            <a:custGeom>
              <a:avLst/>
              <a:gdLst/>
              <a:ahLst/>
              <a:cxnLst/>
              <a:rect l="l" t="t" r="r" b="b"/>
              <a:pathLst>
                <a:path w="3952875" h="1429385">
                  <a:moveTo>
                    <a:pt x="3838487" y="1428899"/>
                  </a:moveTo>
                  <a:lnTo>
                    <a:pt x="114311" y="1428899"/>
                  </a:lnTo>
                  <a:lnTo>
                    <a:pt x="69816" y="1419916"/>
                  </a:lnTo>
                  <a:lnTo>
                    <a:pt x="33481" y="1395418"/>
                  </a:lnTo>
                  <a:lnTo>
                    <a:pt x="8983" y="1359083"/>
                  </a:lnTo>
                  <a:lnTo>
                    <a:pt x="0" y="1314587"/>
                  </a:lnTo>
                  <a:lnTo>
                    <a:pt x="0" y="114311"/>
                  </a:lnTo>
                  <a:lnTo>
                    <a:pt x="8983" y="69816"/>
                  </a:lnTo>
                  <a:lnTo>
                    <a:pt x="33481" y="33481"/>
                  </a:lnTo>
                  <a:lnTo>
                    <a:pt x="69816" y="8983"/>
                  </a:lnTo>
                  <a:lnTo>
                    <a:pt x="114311" y="0"/>
                  </a:lnTo>
                  <a:lnTo>
                    <a:pt x="3838487" y="0"/>
                  </a:lnTo>
                  <a:lnTo>
                    <a:pt x="3882233" y="8701"/>
                  </a:lnTo>
                  <a:lnTo>
                    <a:pt x="3919318" y="33481"/>
                  </a:lnTo>
                  <a:lnTo>
                    <a:pt x="3944098" y="70566"/>
                  </a:lnTo>
                  <a:lnTo>
                    <a:pt x="3952799" y="114311"/>
                  </a:lnTo>
                  <a:lnTo>
                    <a:pt x="3952799" y="1314587"/>
                  </a:lnTo>
                  <a:lnTo>
                    <a:pt x="3943816" y="1359083"/>
                  </a:lnTo>
                  <a:lnTo>
                    <a:pt x="3919318" y="1395418"/>
                  </a:lnTo>
                  <a:lnTo>
                    <a:pt x="3882983" y="1419916"/>
                  </a:lnTo>
                  <a:lnTo>
                    <a:pt x="3838487" y="1428899"/>
                  </a:lnTo>
                  <a:close/>
                </a:path>
              </a:pathLst>
            </a:custGeom>
            <a:solidFill>
              <a:srgbClr val="0F17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76250" y="1524000"/>
              <a:ext cx="3952875" cy="1429385"/>
            </a:xfrm>
            <a:custGeom>
              <a:avLst/>
              <a:gdLst/>
              <a:ahLst/>
              <a:cxnLst/>
              <a:rect l="l" t="t" r="r" b="b"/>
              <a:pathLst>
                <a:path w="3952875" h="1429385">
                  <a:moveTo>
                    <a:pt x="0" y="114311"/>
                  </a:moveTo>
                  <a:lnTo>
                    <a:pt x="8983" y="69816"/>
                  </a:lnTo>
                  <a:lnTo>
                    <a:pt x="33481" y="33481"/>
                  </a:lnTo>
                  <a:lnTo>
                    <a:pt x="69816" y="8983"/>
                  </a:lnTo>
                  <a:lnTo>
                    <a:pt x="114311" y="0"/>
                  </a:lnTo>
                  <a:lnTo>
                    <a:pt x="3838487" y="0"/>
                  </a:lnTo>
                  <a:lnTo>
                    <a:pt x="3882233" y="8701"/>
                  </a:lnTo>
                  <a:lnTo>
                    <a:pt x="3919318" y="33481"/>
                  </a:lnTo>
                  <a:lnTo>
                    <a:pt x="3944098" y="70566"/>
                  </a:lnTo>
                  <a:lnTo>
                    <a:pt x="3952799" y="114311"/>
                  </a:lnTo>
                  <a:lnTo>
                    <a:pt x="3952799" y="1314587"/>
                  </a:lnTo>
                  <a:lnTo>
                    <a:pt x="3943816" y="1359083"/>
                  </a:lnTo>
                  <a:lnTo>
                    <a:pt x="3919318" y="1395418"/>
                  </a:lnTo>
                  <a:lnTo>
                    <a:pt x="3882983" y="1419916"/>
                  </a:lnTo>
                  <a:lnTo>
                    <a:pt x="3838487" y="1428899"/>
                  </a:lnTo>
                  <a:lnTo>
                    <a:pt x="114311" y="1428899"/>
                  </a:lnTo>
                  <a:lnTo>
                    <a:pt x="69816" y="1419916"/>
                  </a:lnTo>
                  <a:lnTo>
                    <a:pt x="33481" y="1395418"/>
                  </a:lnTo>
                  <a:lnTo>
                    <a:pt x="8983" y="1359083"/>
                  </a:lnTo>
                  <a:lnTo>
                    <a:pt x="0" y="1314587"/>
                  </a:lnTo>
                  <a:lnTo>
                    <a:pt x="0" y="114311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8739" y="1822932"/>
              <a:ext cx="231775" cy="2444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01675" y="1793621"/>
            <a:ext cx="315658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Verdana"/>
                <a:cs typeface="Verdana"/>
              </a:rPr>
              <a:t>Backend</a:t>
            </a:r>
            <a:endParaRPr sz="18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1195"/>
              </a:spcBef>
            </a:pPr>
            <a:r>
              <a:rPr sz="1100" spc="-30" dirty="0">
                <a:solidFill>
                  <a:srgbClr val="94A3B8"/>
                </a:solidFill>
                <a:latin typeface="Lucida Sans Unicode"/>
                <a:cs typeface="Lucida Sans Unicode"/>
              </a:rPr>
              <a:t>ASP.NET</a:t>
            </a:r>
            <a:r>
              <a:rPr sz="1100" spc="-80" dirty="0">
                <a:solidFill>
                  <a:srgbClr val="94A3B8"/>
                </a:solidFill>
                <a:latin typeface="Lucida Sans Unicode"/>
                <a:cs typeface="Lucida Sans Unicode"/>
              </a:rPr>
              <a:t> </a:t>
            </a:r>
            <a:r>
              <a:rPr sz="1100" spc="-85" dirty="0">
                <a:solidFill>
                  <a:srgbClr val="94A3B8"/>
                </a:solidFill>
                <a:latin typeface="Lucida Sans Unicode"/>
                <a:cs typeface="Lucida Sans Unicode"/>
              </a:rPr>
              <a:t>MVC</a:t>
            </a:r>
            <a:r>
              <a:rPr sz="1100" spc="-75" dirty="0">
                <a:solidFill>
                  <a:srgbClr val="94A3B8"/>
                </a:solidFill>
                <a:latin typeface="Lucida Sans Unicode"/>
                <a:cs typeface="Lucida Sans Unicode"/>
              </a:rPr>
              <a:t> </a:t>
            </a:r>
            <a:r>
              <a:rPr sz="1100" spc="-25" dirty="0">
                <a:solidFill>
                  <a:srgbClr val="94A3B8"/>
                </a:solidFill>
                <a:latin typeface="Lucida Sans Unicode"/>
                <a:cs typeface="Lucida Sans Unicode"/>
              </a:rPr>
              <a:t>&amp;</a:t>
            </a:r>
            <a:r>
              <a:rPr sz="1100" spc="-80" dirty="0">
                <a:solidFill>
                  <a:srgbClr val="94A3B8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94A3B8"/>
                </a:solidFill>
                <a:latin typeface="Lucida Sans Unicode"/>
                <a:cs typeface="Lucida Sans Unicode"/>
              </a:rPr>
              <a:t>Web</a:t>
            </a:r>
            <a:r>
              <a:rPr sz="1100" spc="-75" dirty="0">
                <a:solidFill>
                  <a:srgbClr val="94A3B8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94A3B8"/>
                </a:solidFill>
                <a:latin typeface="Lucida Sans Unicode"/>
                <a:cs typeface="Lucida Sans Unicode"/>
              </a:rPr>
              <a:t>API</a:t>
            </a:r>
            <a:r>
              <a:rPr sz="1100" spc="-75" dirty="0">
                <a:solidFill>
                  <a:srgbClr val="94A3B8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94A3B8"/>
                </a:solidFill>
                <a:latin typeface="Lucida Sans Unicode"/>
                <a:cs typeface="Lucida Sans Unicode"/>
              </a:rPr>
              <a:t>with</a:t>
            </a:r>
            <a:r>
              <a:rPr sz="1100" spc="-80" dirty="0">
                <a:solidFill>
                  <a:srgbClr val="94A3B8"/>
                </a:solidFill>
                <a:latin typeface="Lucida Sans Unicode"/>
                <a:cs typeface="Lucida Sans Unicode"/>
              </a:rPr>
              <a:t> </a:t>
            </a:r>
            <a:r>
              <a:rPr sz="1100" spc="-20" dirty="0">
                <a:solidFill>
                  <a:srgbClr val="94A3B8"/>
                </a:solidFill>
                <a:latin typeface="Lucida Sans Unicode"/>
                <a:cs typeface="Lucida Sans Unicode"/>
              </a:rPr>
              <a:t>clean</a:t>
            </a:r>
            <a:r>
              <a:rPr sz="1100" spc="-75" dirty="0">
                <a:solidFill>
                  <a:srgbClr val="94A3B8"/>
                </a:solidFill>
                <a:latin typeface="Lucida Sans Unicode"/>
                <a:cs typeface="Lucida Sans Unicode"/>
              </a:rPr>
              <a:t> </a:t>
            </a:r>
            <a:r>
              <a:rPr sz="1100" spc="-30" dirty="0">
                <a:solidFill>
                  <a:srgbClr val="94A3B8"/>
                </a:solidFill>
                <a:latin typeface="Lucida Sans Unicode"/>
                <a:cs typeface="Lucida Sans Unicode"/>
              </a:rPr>
              <a:t>separation</a:t>
            </a:r>
            <a:r>
              <a:rPr sz="1100" spc="-80" dirty="0">
                <a:solidFill>
                  <a:srgbClr val="94A3B8"/>
                </a:solidFill>
                <a:latin typeface="Lucida Sans Unicode"/>
                <a:cs typeface="Lucida Sans Unicode"/>
              </a:rPr>
              <a:t> </a:t>
            </a:r>
            <a:r>
              <a:rPr sz="1100" spc="-25" dirty="0">
                <a:solidFill>
                  <a:srgbClr val="94A3B8"/>
                </a:solidFill>
                <a:latin typeface="Lucida Sans Unicode"/>
                <a:cs typeface="Lucida Sans Unicode"/>
              </a:rPr>
              <a:t>of </a:t>
            </a:r>
            <a:r>
              <a:rPr sz="1100" spc="-30" dirty="0">
                <a:solidFill>
                  <a:srgbClr val="94A3B8"/>
                </a:solidFill>
                <a:latin typeface="Lucida Sans Unicode"/>
                <a:cs typeface="Lucida Sans Unicode"/>
              </a:rPr>
              <a:t>concerns</a:t>
            </a:r>
            <a:r>
              <a:rPr sz="1100" spc="-75" dirty="0">
                <a:solidFill>
                  <a:srgbClr val="94A3B8"/>
                </a:solidFill>
                <a:latin typeface="Lucida Sans Unicode"/>
                <a:cs typeface="Lucida Sans Unicode"/>
              </a:rPr>
              <a:t> </a:t>
            </a:r>
            <a:r>
              <a:rPr sz="1100" spc="-40" dirty="0">
                <a:solidFill>
                  <a:srgbClr val="94A3B8"/>
                </a:solidFill>
                <a:latin typeface="Lucida Sans Unicode"/>
                <a:cs typeface="Lucida Sans Unicode"/>
              </a:rPr>
              <a:t>for</a:t>
            </a:r>
            <a:r>
              <a:rPr sz="1100" spc="-70" dirty="0">
                <a:solidFill>
                  <a:srgbClr val="94A3B8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94A3B8"/>
                </a:solidFill>
                <a:latin typeface="Lucida Sans Unicode"/>
                <a:cs typeface="Lucida Sans Unicode"/>
              </a:rPr>
              <a:t>scalable</a:t>
            </a:r>
            <a:r>
              <a:rPr sz="1100" spc="-70" dirty="0">
                <a:solidFill>
                  <a:srgbClr val="94A3B8"/>
                </a:solidFill>
                <a:latin typeface="Lucida Sans Unicode"/>
                <a:cs typeface="Lucida Sans Unicode"/>
              </a:rPr>
              <a:t> </a:t>
            </a:r>
            <a:r>
              <a:rPr sz="1100" spc="-25" dirty="0">
                <a:solidFill>
                  <a:srgbClr val="94A3B8"/>
                </a:solidFill>
                <a:latin typeface="Lucida Sans Unicode"/>
                <a:cs typeface="Lucida Sans Unicode"/>
              </a:rPr>
              <a:t>service</a:t>
            </a:r>
            <a:r>
              <a:rPr sz="1100" spc="-70" dirty="0">
                <a:solidFill>
                  <a:srgbClr val="94A3B8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94A3B8"/>
                </a:solidFill>
                <a:latin typeface="Lucida Sans Unicode"/>
                <a:cs typeface="Lucida Sans Unicode"/>
              </a:rPr>
              <a:t>design.</a:t>
            </a:r>
            <a:endParaRPr sz="110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710112" y="1519237"/>
            <a:ext cx="3962400" cy="1438910"/>
            <a:chOff x="4710112" y="1519237"/>
            <a:chExt cx="3962400" cy="1438910"/>
          </a:xfrm>
        </p:grpSpPr>
        <p:sp>
          <p:nvSpPr>
            <p:cNvPr id="9" name="object 9"/>
            <p:cNvSpPr/>
            <p:nvPr/>
          </p:nvSpPr>
          <p:spPr>
            <a:xfrm>
              <a:off x="4714875" y="1524000"/>
              <a:ext cx="3952875" cy="1429385"/>
            </a:xfrm>
            <a:custGeom>
              <a:avLst/>
              <a:gdLst/>
              <a:ahLst/>
              <a:cxnLst/>
              <a:rect l="l" t="t" r="r" b="b"/>
              <a:pathLst>
                <a:path w="3952875" h="1429385">
                  <a:moveTo>
                    <a:pt x="3838488" y="1428899"/>
                  </a:moveTo>
                  <a:lnTo>
                    <a:pt x="114311" y="1428899"/>
                  </a:lnTo>
                  <a:lnTo>
                    <a:pt x="69816" y="1419916"/>
                  </a:lnTo>
                  <a:lnTo>
                    <a:pt x="33481" y="1395418"/>
                  </a:lnTo>
                  <a:lnTo>
                    <a:pt x="8983" y="1359083"/>
                  </a:lnTo>
                  <a:lnTo>
                    <a:pt x="0" y="1314587"/>
                  </a:lnTo>
                  <a:lnTo>
                    <a:pt x="0" y="114311"/>
                  </a:lnTo>
                  <a:lnTo>
                    <a:pt x="8983" y="69816"/>
                  </a:lnTo>
                  <a:lnTo>
                    <a:pt x="33481" y="33481"/>
                  </a:lnTo>
                  <a:lnTo>
                    <a:pt x="69816" y="8983"/>
                  </a:lnTo>
                  <a:lnTo>
                    <a:pt x="114311" y="0"/>
                  </a:lnTo>
                  <a:lnTo>
                    <a:pt x="3838488" y="0"/>
                  </a:lnTo>
                  <a:lnTo>
                    <a:pt x="3882233" y="8701"/>
                  </a:lnTo>
                  <a:lnTo>
                    <a:pt x="3919318" y="33481"/>
                  </a:lnTo>
                  <a:lnTo>
                    <a:pt x="3944098" y="70566"/>
                  </a:lnTo>
                  <a:lnTo>
                    <a:pt x="3952799" y="114311"/>
                  </a:lnTo>
                  <a:lnTo>
                    <a:pt x="3952799" y="1314587"/>
                  </a:lnTo>
                  <a:lnTo>
                    <a:pt x="3943816" y="1359083"/>
                  </a:lnTo>
                  <a:lnTo>
                    <a:pt x="3919318" y="1395418"/>
                  </a:lnTo>
                  <a:lnTo>
                    <a:pt x="3882983" y="1419916"/>
                  </a:lnTo>
                  <a:lnTo>
                    <a:pt x="3838488" y="1428899"/>
                  </a:lnTo>
                  <a:close/>
                </a:path>
              </a:pathLst>
            </a:custGeom>
            <a:solidFill>
              <a:srgbClr val="0F17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14875" y="1524000"/>
              <a:ext cx="3952875" cy="1429385"/>
            </a:xfrm>
            <a:custGeom>
              <a:avLst/>
              <a:gdLst/>
              <a:ahLst/>
              <a:cxnLst/>
              <a:rect l="l" t="t" r="r" b="b"/>
              <a:pathLst>
                <a:path w="3952875" h="1429385">
                  <a:moveTo>
                    <a:pt x="0" y="114311"/>
                  </a:moveTo>
                  <a:lnTo>
                    <a:pt x="8983" y="69816"/>
                  </a:lnTo>
                  <a:lnTo>
                    <a:pt x="33481" y="33481"/>
                  </a:lnTo>
                  <a:lnTo>
                    <a:pt x="69816" y="8983"/>
                  </a:lnTo>
                  <a:lnTo>
                    <a:pt x="114311" y="0"/>
                  </a:lnTo>
                  <a:lnTo>
                    <a:pt x="3838488" y="0"/>
                  </a:lnTo>
                  <a:lnTo>
                    <a:pt x="3882233" y="8701"/>
                  </a:lnTo>
                  <a:lnTo>
                    <a:pt x="3919318" y="33481"/>
                  </a:lnTo>
                  <a:lnTo>
                    <a:pt x="3944098" y="70566"/>
                  </a:lnTo>
                  <a:lnTo>
                    <a:pt x="3952799" y="114311"/>
                  </a:lnTo>
                  <a:lnTo>
                    <a:pt x="3952799" y="1314587"/>
                  </a:lnTo>
                  <a:lnTo>
                    <a:pt x="3943816" y="1359083"/>
                  </a:lnTo>
                  <a:lnTo>
                    <a:pt x="3919318" y="1395418"/>
                  </a:lnTo>
                  <a:lnTo>
                    <a:pt x="3882983" y="1419916"/>
                  </a:lnTo>
                  <a:lnTo>
                    <a:pt x="3838488" y="1428899"/>
                  </a:lnTo>
                  <a:lnTo>
                    <a:pt x="114311" y="1428899"/>
                  </a:lnTo>
                  <a:lnTo>
                    <a:pt x="69816" y="1419916"/>
                  </a:lnTo>
                  <a:lnTo>
                    <a:pt x="33481" y="1395418"/>
                  </a:lnTo>
                  <a:lnTo>
                    <a:pt x="8983" y="1359083"/>
                  </a:lnTo>
                  <a:lnTo>
                    <a:pt x="0" y="1314587"/>
                  </a:lnTo>
                  <a:lnTo>
                    <a:pt x="0" y="114311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14664" y="1848332"/>
              <a:ext cx="257175" cy="20637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940300" y="1793621"/>
            <a:ext cx="279273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0">
              <a:lnSpc>
                <a:spcPct val="100000"/>
              </a:lnSpc>
              <a:spcBef>
                <a:spcPts val="100"/>
              </a:spcBef>
            </a:pPr>
            <a:r>
              <a:rPr sz="1800" b="1" spc="-114" dirty="0">
                <a:solidFill>
                  <a:srgbClr val="FFFFFF"/>
                </a:solidFill>
                <a:latin typeface="Verdana"/>
                <a:cs typeface="Verdana"/>
              </a:rPr>
              <a:t>Data</a:t>
            </a:r>
            <a:r>
              <a:rPr sz="1800" b="1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Verdana"/>
                <a:cs typeface="Verdana"/>
              </a:rPr>
              <a:t>Layer</a:t>
            </a:r>
            <a:endParaRPr sz="18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1195"/>
              </a:spcBef>
            </a:pPr>
            <a:r>
              <a:rPr sz="1100" dirty="0">
                <a:solidFill>
                  <a:srgbClr val="94A3B8"/>
                </a:solidFill>
                <a:latin typeface="Lucida Sans Unicode"/>
                <a:cs typeface="Lucida Sans Unicode"/>
              </a:rPr>
              <a:t>SQL</a:t>
            </a:r>
            <a:r>
              <a:rPr sz="1100" spc="-80" dirty="0">
                <a:solidFill>
                  <a:srgbClr val="94A3B8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94A3B8"/>
                </a:solidFill>
                <a:latin typeface="Lucida Sans Unicode"/>
                <a:cs typeface="Lucida Sans Unicode"/>
              </a:rPr>
              <a:t>Server</a:t>
            </a:r>
            <a:r>
              <a:rPr sz="1100" spc="-80" dirty="0">
                <a:solidFill>
                  <a:srgbClr val="94A3B8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94A3B8"/>
                </a:solidFill>
                <a:latin typeface="Lucida Sans Unicode"/>
                <a:cs typeface="Lucida Sans Unicode"/>
              </a:rPr>
              <a:t>with</a:t>
            </a:r>
            <a:r>
              <a:rPr sz="1100" spc="-75" dirty="0">
                <a:solidFill>
                  <a:srgbClr val="94A3B8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94A3B8"/>
                </a:solidFill>
                <a:latin typeface="Lucida Sans Unicode"/>
                <a:cs typeface="Lucida Sans Unicode"/>
              </a:rPr>
              <a:t>Entity</a:t>
            </a:r>
            <a:r>
              <a:rPr sz="1100" spc="-80" dirty="0">
                <a:solidFill>
                  <a:srgbClr val="94A3B8"/>
                </a:solidFill>
                <a:latin typeface="Lucida Sans Unicode"/>
                <a:cs typeface="Lucida Sans Unicode"/>
              </a:rPr>
              <a:t> </a:t>
            </a:r>
            <a:r>
              <a:rPr sz="1100" spc="-25" dirty="0">
                <a:solidFill>
                  <a:srgbClr val="94A3B8"/>
                </a:solidFill>
                <a:latin typeface="Lucida Sans Unicode"/>
                <a:cs typeface="Lucida Sans Unicode"/>
              </a:rPr>
              <a:t>Framework</a:t>
            </a:r>
            <a:r>
              <a:rPr sz="1100" spc="-75" dirty="0">
                <a:solidFill>
                  <a:srgbClr val="94A3B8"/>
                </a:solidFill>
                <a:latin typeface="Lucida Sans Unicode"/>
                <a:cs typeface="Lucida Sans Unicode"/>
              </a:rPr>
              <a:t> </a:t>
            </a:r>
            <a:r>
              <a:rPr sz="1100" spc="-40" dirty="0">
                <a:solidFill>
                  <a:srgbClr val="94A3B8"/>
                </a:solidFill>
                <a:latin typeface="Lucida Sans Unicode"/>
                <a:cs typeface="Lucida Sans Unicode"/>
              </a:rPr>
              <a:t>Core</a:t>
            </a:r>
            <a:r>
              <a:rPr sz="1100" spc="-80" dirty="0">
                <a:solidFill>
                  <a:srgbClr val="94A3B8"/>
                </a:solidFill>
                <a:latin typeface="Lucida Sans Unicode"/>
                <a:cs typeface="Lucida Sans Unicode"/>
              </a:rPr>
              <a:t> </a:t>
            </a:r>
            <a:r>
              <a:rPr sz="1100" spc="-25" dirty="0">
                <a:solidFill>
                  <a:srgbClr val="94A3B8"/>
                </a:solidFill>
                <a:latin typeface="Lucida Sans Unicode"/>
                <a:cs typeface="Lucida Sans Unicode"/>
              </a:rPr>
              <a:t>for </a:t>
            </a:r>
            <a:r>
              <a:rPr sz="1100" spc="-85" dirty="0">
                <a:solidFill>
                  <a:srgbClr val="94A3B8"/>
                </a:solidFill>
                <a:latin typeface="Lucida Sans Unicode"/>
                <a:cs typeface="Lucida Sans Unicode"/>
              </a:rPr>
              <a:t>ORM-</a:t>
            </a:r>
            <a:r>
              <a:rPr sz="1100" spc="-40" dirty="0">
                <a:solidFill>
                  <a:srgbClr val="94A3B8"/>
                </a:solidFill>
                <a:latin typeface="Lucida Sans Unicode"/>
                <a:cs typeface="Lucida Sans Unicode"/>
              </a:rPr>
              <a:t>based,</a:t>
            </a:r>
            <a:r>
              <a:rPr sz="1100" spc="-60" dirty="0">
                <a:solidFill>
                  <a:srgbClr val="94A3B8"/>
                </a:solidFill>
                <a:latin typeface="Lucida Sans Unicode"/>
                <a:cs typeface="Lucida Sans Unicode"/>
              </a:rPr>
              <a:t> </a:t>
            </a:r>
            <a:r>
              <a:rPr sz="1100" spc="-30" dirty="0">
                <a:solidFill>
                  <a:srgbClr val="94A3B8"/>
                </a:solidFill>
                <a:latin typeface="Lucida Sans Unicode"/>
                <a:cs typeface="Lucida Sans Unicode"/>
              </a:rPr>
              <a:t>type-</a:t>
            </a:r>
            <a:r>
              <a:rPr sz="1100" spc="-75" dirty="0">
                <a:solidFill>
                  <a:srgbClr val="94A3B8"/>
                </a:solidFill>
                <a:latin typeface="Lucida Sans Unicode"/>
                <a:cs typeface="Lucida Sans Unicode"/>
              </a:rPr>
              <a:t>safe</a:t>
            </a:r>
            <a:r>
              <a:rPr sz="1100" spc="-55" dirty="0">
                <a:solidFill>
                  <a:srgbClr val="94A3B8"/>
                </a:solidFill>
                <a:latin typeface="Lucida Sans Unicode"/>
                <a:cs typeface="Lucida Sans Unicode"/>
              </a:rPr>
              <a:t> </a:t>
            </a:r>
            <a:r>
              <a:rPr sz="1100" spc="-20" dirty="0">
                <a:solidFill>
                  <a:srgbClr val="94A3B8"/>
                </a:solidFill>
                <a:latin typeface="Lucida Sans Unicode"/>
                <a:cs typeface="Lucida Sans Unicode"/>
              </a:rPr>
              <a:t>data</a:t>
            </a:r>
            <a:r>
              <a:rPr sz="1100" spc="-55" dirty="0">
                <a:solidFill>
                  <a:srgbClr val="94A3B8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94A3B8"/>
                </a:solidFill>
                <a:latin typeface="Lucida Sans Unicode"/>
                <a:cs typeface="Lucida Sans Unicode"/>
              </a:rPr>
              <a:t>access.</a:t>
            </a:r>
            <a:endParaRPr sz="1100">
              <a:latin typeface="Lucida Sans Unicode"/>
              <a:cs typeface="Lucida Sans Unicode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71487" y="3233737"/>
            <a:ext cx="3962400" cy="1438910"/>
            <a:chOff x="471487" y="3233737"/>
            <a:chExt cx="3962400" cy="1438910"/>
          </a:xfrm>
        </p:grpSpPr>
        <p:sp>
          <p:nvSpPr>
            <p:cNvPr id="14" name="object 14"/>
            <p:cNvSpPr/>
            <p:nvPr/>
          </p:nvSpPr>
          <p:spPr>
            <a:xfrm>
              <a:off x="476250" y="3238500"/>
              <a:ext cx="3952875" cy="1429385"/>
            </a:xfrm>
            <a:custGeom>
              <a:avLst/>
              <a:gdLst/>
              <a:ahLst/>
              <a:cxnLst/>
              <a:rect l="l" t="t" r="r" b="b"/>
              <a:pathLst>
                <a:path w="3952875" h="1429385">
                  <a:moveTo>
                    <a:pt x="3838487" y="1428899"/>
                  </a:moveTo>
                  <a:lnTo>
                    <a:pt x="114311" y="1428899"/>
                  </a:lnTo>
                  <a:lnTo>
                    <a:pt x="69816" y="1419916"/>
                  </a:lnTo>
                  <a:lnTo>
                    <a:pt x="33481" y="1395418"/>
                  </a:lnTo>
                  <a:lnTo>
                    <a:pt x="8983" y="1359083"/>
                  </a:lnTo>
                  <a:lnTo>
                    <a:pt x="0" y="1314587"/>
                  </a:lnTo>
                  <a:lnTo>
                    <a:pt x="0" y="114311"/>
                  </a:lnTo>
                  <a:lnTo>
                    <a:pt x="8983" y="69816"/>
                  </a:lnTo>
                  <a:lnTo>
                    <a:pt x="33481" y="33481"/>
                  </a:lnTo>
                  <a:lnTo>
                    <a:pt x="69816" y="8983"/>
                  </a:lnTo>
                  <a:lnTo>
                    <a:pt x="114311" y="0"/>
                  </a:lnTo>
                  <a:lnTo>
                    <a:pt x="3838487" y="0"/>
                  </a:lnTo>
                  <a:lnTo>
                    <a:pt x="3882233" y="8701"/>
                  </a:lnTo>
                  <a:lnTo>
                    <a:pt x="3919318" y="33481"/>
                  </a:lnTo>
                  <a:lnTo>
                    <a:pt x="3944098" y="70566"/>
                  </a:lnTo>
                  <a:lnTo>
                    <a:pt x="3952799" y="114311"/>
                  </a:lnTo>
                  <a:lnTo>
                    <a:pt x="3952799" y="1314587"/>
                  </a:lnTo>
                  <a:lnTo>
                    <a:pt x="3943816" y="1359083"/>
                  </a:lnTo>
                  <a:lnTo>
                    <a:pt x="3919318" y="1395418"/>
                  </a:lnTo>
                  <a:lnTo>
                    <a:pt x="3882983" y="1419916"/>
                  </a:lnTo>
                  <a:lnTo>
                    <a:pt x="3838487" y="1428899"/>
                  </a:lnTo>
                  <a:close/>
                </a:path>
              </a:pathLst>
            </a:custGeom>
            <a:solidFill>
              <a:srgbClr val="0F17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6250" y="3238500"/>
              <a:ext cx="3952875" cy="1429385"/>
            </a:xfrm>
            <a:custGeom>
              <a:avLst/>
              <a:gdLst/>
              <a:ahLst/>
              <a:cxnLst/>
              <a:rect l="l" t="t" r="r" b="b"/>
              <a:pathLst>
                <a:path w="3952875" h="1429385">
                  <a:moveTo>
                    <a:pt x="0" y="114311"/>
                  </a:moveTo>
                  <a:lnTo>
                    <a:pt x="8983" y="69816"/>
                  </a:lnTo>
                  <a:lnTo>
                    <a:pt x="33481" y="33481"/>
                  </a:lnTo>
                  <a:lnTo>
                    <a:pt x="69816" y="8983"/>
                  </a:lnTo>
                  <a:lnTo>
                    <a:pt x="114311" y="0"/>
                  </a:lnTo>
                  <a:lnTo>
                    <a:pt x="3838487" y="0"/>
                  </a:lnTo>
                  <a:lnTo>
                    <a:pt x="3882233" y="8701"/>
                  </a:lnTo>
                  <a:lnTo>
                    <a:pt x="3919318" y="33481"/>
                  </a:lnTo>
                  <a:lnTo>
                    <a:pt x="3944098" y="70566"/>
                  </a:lnTo>
                  <a:lnTo>
                    <a:pt x="3952799" y="114311"/>
                  </a:lnTo>
                  <a:lnTo>
                    <a:pt x="3952799" y="1314587"/>
                  </a:lnTo>
                  <a:lnTo>
                    <a:pt x="3943816" y="1359083"/>
                  </a:lnTo>
                  <a:lnTo>
                    <a:pt x="3919318" y="1395418"/>
                  </a:lnTo>
                  <a:lnTo>
                    <a:pt x="3882983" y="1419916"/>
                  </a:lnTo>
                  <a:lnTo>
                    <a:pt x="3838487" y="1428899"/>
                  </a:lnTo>
                  <a:lnTo>
                    <a:pt x="114311" y="1428899"/>
                  </a:lnTo>
                  <a:lnTo>
                    <a:pt x="69816" y="1419916"/>
                  </a:lnTo>
                  <a:lnTo>
                    <a:pt x="33481" y="1395418"/>
                  </a:lnTo>
                  <a:lnTo>
                    <a:pt x="8983" y="1359083"/>
                  </a:lnTo>
                  <a:lnTo>
                    <a:pt x="0" y="1314587"/>
                  </a:lnTo>
                  <a:lnTo>
                    <a:pt x="0" y="114311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8739" y="3524732"/>
              <a:ext cx="231775" cy="282575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701675" y="3508121"/>
            <a:ext cx="318833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Verdana"/>
                <a:cs typeface="Verdana"/>
              </a:rPr>
              <a:t>Security</a:t>
            </a:r>
            <a:endParaRPr sz="18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1195"/>
              </a:spcBef>
            </a:pPr>
            <a:r>
              <a:rPr sz="1100" spc="75" dirty="0">
                <a:solidFill>
                  <a:srgbClr val="94A3B8"/>
                </a:solidFill>
                <a:latin typeface="Lucida Sans Unicode"/>
                <a:cs typeface="Lucida Sans Unicode"/>
              </a:rPr>
              <a:t>JWT</a:t>
            </a:r>
            <a:r>
              <a:rPr sz="1100" spc="-50" dirty="0">
                <a:solidFill>
                  <a:srgbClr val="94A3B8"/>
                </a:solidFill>
                <a:latin typeface="Lucida Sans Unicode"/>
                <a:cs typeface="Lucida Sans Unicode"/>
              </a:rPr>
              <a:t> </a:t>
            </a:r>
            <a:r>
              <a:rPr sz="1100" spc="-55" dirty="0">
                <a:solidFill>
                  <a:srgbClr val="94A3B8"/>
                </a:solidFill>
                <a:latin typeface="Lucida Sans Unicode"/>
                <a:cs typeface="Lucida Sans Unicode"/>
              </a:rPr>
              <a:t>token-</a:t>
            </a:r>
            <a:r>
              <a:rPr sz="1100" spc="-40" dirty="0">
                <a:solidFill>
                  <a:srgbClr val="94A3B8"/>
                </a:solidFill>
                <a:latin typeface="Lucida Sans Unicode"/>
                <a:cs typeface="Lucida Sans Unicode"/>
              </a:rPr>
              <a:t>based</a:t>
            </a:r>
            <a:r>
              <a:rPr sz="1100" spc="-45" dirty="0">
                <a:solidFill>
                  <a:srgbClr val="94A3B8"/>
                </a:solidFill>
                <a:latin typeface="Lucida Sans Unicode"/>
                <a:cs typeface="Lucida Sans Unicode"/>
              </a:rPr>
              <a:t> </a:t>
            </a:r>
            <a:r>
              <a:rPr sz="1100" spc="-20" dirty="0">
                <a:solidFill>
                  <a:srgbClr val="94A3B8"/>
                </a:solidFill>
                <a:latin typeface="Lucida Sans Unicode"/>
                <a:cs typeface="Lucida Sans Unicode"/>
              </a:rPr>
              <a:t>authentication</a:t>
            </a:r>
            <a:r>
              <a:rPr sz="1100" spc="-45" dirty="0">
                <a:solidFill>
                  <a:srgbClr val="94A3B8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94A3B8"/>
                </a:solidFill>
                <a:latin typeface="Lucida Sans Unicode"/>
                <a:cs typeface="Lucida Sans Unicode"/>
              </a:rPr>
              <a:t>with</a:t>
            </a:r>
            <a:r>
              <a:rPr sz="1100" spc="-45" dirty="0">
                <a:solidFill>
                  <a:srgbClr val="94A3B8"/>
                </a:solidFill>
                <a:latin typeface="Lucida Sans Unicode"/>
                <a:cs typeface="Lucida Sans Unicode"/>
              </a:rPr>
              <a:t> role-</a:t>
            </a:r>
            <a:r>
              <a:rPr sz="1100" spc="-35" dirty="0">
                <a:solidFill>
                  <a:srgbClr val="94A3B8"/>
                </a:solidFill>
                <a:latin typeface="Lucida Sans Unicode"/>
                <a:cs typeface="Lucida Sans Unicode"/>
              </a:rPr>
              <a:t>based </a:t>
            </a:r>
            <a:r>
              <a:rPr sz="1100" spc="-30" dirty="0">
                <a:solidFill>
                  <a:srgbClr val="94A3B8"/>
                </a:solidFill>
                <a:latin typeface="Lucida Sans Unicode"/>
                <a:cs typeface="Lucida Sans Unicode"/>
              </a:rPr>
              <a:t>authorization</a:t>
            </a:r>
            <a:r>
              <a:rPr sz="1100" spc="15" dirty="0">
                <a:solidFill>
                  <a:srgbClr val="94A3B8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94A3B8"/>
                </a:solidFill>
                <a:latin typeface="Lucida Sans Unicode"/>
                <a:cs typeface="Lucida Sans Unicode"/>
              </a:rPr>
              <a:t>policies.</a:t>
            </a:r>
            <a:endParaRPr sz="110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710112" y="3233737"/>
            <a:ext cx="3962400" cy="1438910"/>
            <a:chOff x="4710112" y="3233737"/>
            <a:chExt cx="3962400" cy="1438910"/>
          </a:xfrm>
        </p:grpSpPr>
        <p:sp>
          <p:nvSpPr>
            <p:cNvPr id="19" name="object 19"/>
            <p:cNvSpPr/>
            <p:nvPr/>
          </p:nvSpPr>
          <p:spPr>
            <a:xfrm>
              <a:off x="4714875" y="3238500"/>
              <a:ext cx="3952875" cy="1429385"/>
            </a:xfrm>
            <a:custGeom>
              <a:avLst/>
              <a:gdLst/>
              <a:ahLst/>
              <a:cxnLst/>
              <a:rect l="l" t="t" r="r" b="b"/>
              <a:pathLst>
                <a:path w="3952875" h="1429385">
                  <a:moveTo>
                    <a:pt x="3838488" y="1428899"/>
                  </a:moveTo>
                  <a:lnTo>
                    <a:pt x="114311" y="1428899"/>
                  </a:lnTo>
                  <a:lnTo>
                    <a:pt x="69816" y="1419916"/>
                  </a:lnTo>
                  <a:lnTo>
                    <a:pt x="33481" y="1395418"/>
                  </a:lnTo>
                  <a:lnTo>
                    <a:pt x="8983" y="1359083"/>
                  </a:lnTo>
                  <a:lnTo>
                    <a:pt x="0" y="1314587"/>
                  </a:lnTo>
                  <a:lnTo>
                    <a:pt x="0" y="114311"/>
                  </a:lnTo>
                  <a:lnTo>
                    <a:pt x="8983" y="69816"/>
                  </a:lnTo>
                  <a:lnTo>
                    <a:pt x="33481" y="33481"/>
                  </a:lnTo>
                  <a:lnTo>
                    <a:pt x="69816" y="8983"/>
                  </a:lnTo>
                  <a:lnTo>
                    <a:pt x="114311" y="0"/>
                  </a:lnTo>
                  <a:lnTo>
                    <a:pt x="3838488" y="0"/>
                  </a:lnTo>
                  <a:lnTo>
                    <a:pt x="3882233" y="8701"/>
                  </a:lnTo>
                  <a:lnTo>
                    <a:pt x="3919318" y="33481"/>
                  </a:lnTo>
                  <a:lnTo>
                    <a:pt x="3944098" y="70566"/>
                  </a:lnTo>
                  <a:lnTo>
                    <a:pt x="3952799" y="114311"/>
                  </a:lnTo>
                  <a:lnTo>
                    <a:pt x="3952799" y="1314587"/>
                  </a:lnTo>
                  <a:lnTo>
                    <a:pt x="3943816" y="1359083"/>
                  </a:lnTo>
                  <a:lnTo>
                    <a:pt x="3919318" y="1395418"/>
                  </a:lnTo>
                  <a:lnTo>
                    <a:pt x="3882983" y="1419916"/>
                  </a:lnTo>
                  <a:lnTo>
                    <a:pt x="3838488" y="1428899"/>
                  </a:lnTo>
                  <a:close/>
                </a:path>
              </a:pathLst>
            </a:custGeom>
            <a:solidFill>
              <a:srgbClr val="0F17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714875" y="3238500"/>
              <a:ext cx="3952875" cy="1429385"/>
            </a:xfrm>
            <a:custGeom>
              <a:avLst/>
              <a:gdLst/>
              <a:ahLst/>
              <a:cxnLst/>
              <a:rect l="l" t="t" r="r" b="b"/>
              <a:pathLst>
                <a:path w="3952875" h="1429385">
                  <a:moveTo>
                    <a:pt x="0" y="114311"/>
                  </a:moveTo>
                  <a:lnTo>
                    <a:pt x="8983" y="69816"/>
                  </a:lnTo>
                  <a:lnTo>
                    <a:pt x="33481" y="33481"/>
                  </a:lnTo>
                  <a:lnTo>
                    <a:pt x="69816" y="8983"/>
                  </a:lnTo>
                  <a:lnTo>
                    <a:pt x="114311" y="0"/>
                  </a:lnTo>
                  <a:lnTo>
                    <a:pt x="3838488" y="0"/>
                  </a:lnTo>
                  <a:lnTo>
                    <a:pt x="3882233" y="8701"/>
                  </a:lnTo>
                  <a:lnTo>
                    <a:pt x="3919318" y="33481"/>
                  </a:lnTo>
                  <a:lnTo>
                    <a:pt x="3944098" y="70566"/>
                  </a:lnTo>
                  <a:lnTo>
                    <a:pt x="3952799" y="114311"/>
                  </a:lnTo>
                  <a:lnTo>
                    <a:pt x="3952799" y="1314587"/>
                  </a:lnTo>
                  <a:lnTo>
                    <a:pt x="3943816" y="1359083"/>
                  </a:lnTo>
                  <a:lnTo>
                    <a:pt x="3919318" y="1395418"/>
                  </a:lnTo>
                  <a:lnTo>
                    <a:pt x="3882983" y="1419916"/>
                  </a:lnTo>
                  <a:lnTo>
                    <a:pt x="3838488" y="1428899"/>
                  </a:lnTo>
                  <a:lnTo>
                    <a:pt x="114311" y="1428899"/>
                  </a:lnTo>
                  <a:lnTo>
                    <a:pt x="69816" y="1419916"/>
                  </a:lnTo>
                  <a:lnTo>
                    <a:pt x="33481" y="1395418"/>
                  </a:lnTo>
                  <a:lnTo>
                    <a:pt x="8983" y="1359083"/>
                  </a:lnTo>
                  <a:lnTo>
                    <a:pt x="0" y="1314587"/>
                  </a:lnTo>
                  <a:lnTo>
                    <a:pt x="0" y="114311"/>
                  </a:lnTo>
                  <a:close/>
                </a:path>
              </a:pathLst>
            </a:custGeom>
            <a:ln w="9524">
              <a:solidFill>
                <a:srgbClr val="1E29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92439" y="3597757"/>
              <a:ext cx="301625" cy="136525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940300" y="3508121"/>
            <a:ext cx="325755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Verdana"/>
                <a:cs typeface="Verdana"/>
              </a:rPr>
              <a:t>DevOps</a:t>
            </a:r>
            <a:endParaRPr sz="18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1195"/>
              </a:spcBef>
            </a:pPr>
            <a:r>
              <a:rPr sz="1100" spc="-40" dirty="0">
                <a:solidFill>
                  <a:srgbClr val="94A3B8"/>
                </a:solidFill>
                <a:latin typeface="Lucida Sans Unicode"/>
                <a:cs typeface="Lucida Sans Unicode"/>
              </a:rPr>
              <a:t>Docker</a:t>
            </a:r>
            <a:r>
              <a:rPr sz="1100" spc="-55" dirty="0">
                <a:solidFill>
                  <a:srgbClr val="94A3B8"/>
                </a:solidFill>
                <a:latin typeface="Lucida Sans Unicode"/>
                <a:cs typeface="Lucida Sans Unicode"/>
              </a:rPr>
              <a:t> </a:t>
            </a:r>
            <a:r>
              <a:rPr sz="1100" spc="-30" dirty="0">
                <a:solidFill>
                  <a:srgbClr val="94A3B8"/>
                </a:solidFill>
                <a:latin typeface="Lucida Sans Unicode"/>
                <a:cs typeface="Lucida Sans Unicode"/>
              </a:rPr>
              <a:t>containerization</a:t>
            </a:r>
            <a:r>
              <a:rPr sz="1100" spc="-55" dirty="0">
                <a:solidFill>
                  <a:srgbClr val="94A3B8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94A3B8"/>
                </a:solidFill>
                <a:latin typeface="Lucida Sans Unicode"/>
                <a:cs typeface="Lucida Sans Unicode"/>
              </a:rPr>
              <a:t>and</a:t>
            </a:r>
            <a:r>
              <a:rPr sz="1100" spc="-55" dirty="0">
                <a:solidFill>
                  <a:srgbClr val="94A3B8"/>
                </a:solidFill>
                <a:latin typeface="Lucida Sans Unicode"/>
                <a:cs typeface="Lucida Sans Unicode"/>
              </a:rPr>
              <a:t> </a:t>
            </a:r>
            <a:r>
              <a:rPr sz="1100" spc="-25" dirty="0">
                <a:solidFill>
                  <a:srgbClr val="94A3B8"/>
                </a:solidFill>
                <a:latin typeface="Lucida Sans Unicode"/>
                <a:cs typeface="Lucida Sans Unicode"/>
              </a:rPr>
              <a:t>GitHub</a:t>
            </a:r>
            <a:r>
              <a:rPr sz="1100" spc="-55" dirty="0">
                <a:solidFill>
                  <a:srgbClr val="94A3B8"/>
                </a:solidFill>
                <a:latin typeface="Lucida Sans Unicode"/>
                <a:cs typeface="Lucida Sans Unicode"/>
              </a:rPr>
              <a:t> </a:t>
            </a:r>
            <a:r>
              <a:rPr sz="1100" spc="-40" dirty="0">
                <a:solidFill>
                  <a:srgbClr val="94A3B8"/>
                </a:solidFill>
                <a:latin typeface="Lucida Sans Unicode"/>
                <a:cs typeface="Lucida Sans Unicode"/>
              </a:rPr>
              <a:t>Actions</a:t>
            </a:r>
            <a:r>
              <a:rPr sz="1100" spc="-55" dirty="0">
                <a:solidFill>
                  <a:srgbClr val="94A3B8"/>
                </a:solidFill>
                <a:latin typeface="Lucida Sans Unicode"/>
                <a:cs typeface="Lucida Sans Unicode"/>
              </a:rPr>
              <a:t> </a:t>
            </a:r>
            <a:r>
              <a:rPr sz="1100" spc="-50" dirty="0">
                <a:solidFill>
                  <a:srgbClr val="94A3B8"/>
                </a:solidFill>
                <a:latin typeface="Lucida Sans Unicode"/>
                <a:cs typeface="Lucida Sans Unicode"/>
              </a:rPr>
              <a:t>CI/CD </a:t>
            </a:r>
            <a:r>
              <a:rPr sz="1100" spc="-25" dirty="0">
                <a:solidFill>
                  <a:srgbClr val="94A3B8"/>
                </a:solidFill>
                <a:latin typeface="Lucida Sans Unicode"/>
                <a:cs typeface="Lucida Sans Unicode"/>
              </a:rPr>
              <a:t>pipelines</a:t>
            </a:r>
            <a:r>
              <a:rPr sz="1100" spc="-50" dirty="0">
                <a:solidFill>
                  <a:srgbClr val="94A3B8"/>
                </a:solidFill>
                <a:latin typeface="Lucida Sans Unicode"/>
                <a:cs typeface="Lucida Sans Unicode"/>
              </a:rPr>
              <a:t> </a:t>
            </a:r>
            <a:r>
              <a:rPr sz="1100" spc="-40" dirty="0">
                <a:solidFill>
                  <a:srgbClr val="94A3B8"/>
                </a:solidFill>
                <a:latin typeface="Lucida Sans Unicode"/>
                <a:cs typeface="Lucida Sans Unicode"/>
              </a:rPr>
              <a:t>for</a:t>
            </a:r>
            <a:r>
              <a:rPr sz="1100" spc="-50" dirty="0">
                <a:solidFill>
                  <a:srgbClr val="94A3B8"/>
                </a:solidFill>
                <a:latin typeface="Lucida Sans Unicode"/>
                <a:cs typeface="Lucida Sans Unicode"/>
              </a:rPr>
              <a:t> </a:t>
            </a:r>
            <a:r>
              <a:rPr sz="1100" spc="-20" dirty="0">
                <a:solidFill>
                  <a:srgbClr val="94A3B8"/>
                </a:solidFill>
                <a:latin typeface="Lucida Sans Unicode"/>
                <a:cs typeface="Lucida Sans Unicode"/>
              </a:rPr>
              <a:t>automated</a:t>
            </a:r>
            <a:r>
              <a:rPr sz="1100" spc="-45" dirty="0">
                <a:solidFill>
                  <a:srgbClr val="94A3B8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94A3B8"/>
                </a:solidFill>
                <a:latin typeface="Lucida Sans Unicode"/>
                <a:cs typeface="Lucida Sans Unicode"/>
              </a:rPr>
              <a:t>deployment.</a:t>
            </a:r>
            <a:endParaRPr sz="11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9235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-229" dirty="0"/>
              <a:t> </a:t>
            </a:r>
            <a:r>
              <a:rPr spc="55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4489" y="955253"/>
            <a:ext cx="2737097" cy="265070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74489" y="3970733"/>
            <a:ext cx="3759835" cy="705485"/>
            <a:chOff x="674489" y="3970733"/>
            <a:chExt cx="3759835" cy="705485"/>
          </a:xfrm>
        </p:grpSpPr>
        <p:sp>
          <p:nvSpPr>
            <p:cNvPr id="5" name="object 5"/>
            <p:cNvSpPr/>
            <p:nvPr/>
          </p:nvSpPr>
          <p:spPr>
            <a:xfrm>
              <a:off x="674489" y="3970733"/>
              <a:ext cx="3759835" cy="705485"/>
            </a:xfrm>
            <a:custGeom>
              <a:avLst/>
              <a:gdLst/>
              <a:ahLst/>
              <a:cxnLst/>
              <a:rect l="l" t="t" r="r" b="b"/>
              <a:pathLst>
                <a:path w="3759835" h="705485">
                  <a:moveTo>
                    <a:pt x="3752035" y="705444"/>
                  </a:moveTo>
                  <a:lnTo>
                    <a:pt x="7586" y="705444"/>
                  </a:lnTo>
                  <a:lnTo>
                    <a:pt x="0" y="697858"/>
                  </a:lnTo>
                  <a:lnTo>
                    <a:pt x="0" y="16944"/>
                  </a:lnTo>
                  <a:lnTo>
                    <a:pt x="0" y="7586"/>
                  </a:lnTo>
                  <a:lnTo>
                    <a:pt x="7586" y="0"/>
                  </a:lnTo>
                  <a:lnTo>
                    <a:pt x="3747170" y="0"/>
                  </a:lnTo>
                  <a:lnTo>
                    <a:pt x="3751481" y="1785"/>
                  </a:lnTo>
                  <a:lnTo>
                    <a:pt x="3757836" y="8140"/>
                  </a:lnTo>
                  <a:lnTo>
                    <a:pt x="3759621" y="12450"/>
                  </a:lnTo>
                  <a:lnTo>
                    <a:pt x="3759621" y="697858"/>
                  </a:lnTo>
                  <a:lnTo>
                    <a:pt x="3752035" y="705444"/>
                  </a:lnTo>
                  <a:close/>
                </a:path>
              </a:pathLst>
            </a:custGeom>
            <a:solidFill>
              <a:srgbClr val="0223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7450" y="4141589"/>
              <a:ext cx="141162" cy="11296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028874" y="4036974"/>
            <a:ext cx="3093720" cy="492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85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All</a:t>
            </a:r>
            <a:r>
              <a:rPr sz="85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85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inter-</a:t>
            </a:r>
            <a:r>
              <a:rPr sz="85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service</a:t>
            </a:r>
            <a:r>
              <a:rPr sz="85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8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communication</a:t>
            </a:r>
            <a:r>
              <a:rPr sz="85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85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is</a:t>
            </a:r>
            <a:r>
              <a:rPr sz="85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8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secured</a:t>
            </a:r>
            <a:r>
              <a:rPr sz="85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via</a:t>
            </a:r>
            <a:r>
              <a:rPr sz="85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HTTPS.</a:t>
            </a:r>
            <a:r>
              <a:rPr sz="85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8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The </a:t>
            </a:r>
            <a:r>
              <a:rPr sz="8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architecture</a:t>
            </a:r>
            <a:r>
              <a:rPr sz="85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8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supports</a:t>
            </a:r>
            <a:r>
              <a:rPr sz="85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85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horizontal </a:t>
            </a:r>
            <a:r>
              <a:rPr sz="8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scaling</a:t>
            </a:r>
            <a:r>
              <a:rPr sz="85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sz="85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Architecture </a:t>
            </a:r>
            <a:r>
              <a:rPr sz="8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designed</a:t>
            </a:r>
            <a:r>
              <a:rPr sz="8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sz="8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8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support</a:t>
            </a:r>
            <a:r>
              <a:rPr sz="85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8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future</a:t>
            </a:r>
            <a:r>
              <a:rPr sz="8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8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scalability</a:t>
            </a:r>
            <a:r>
              <a:rPr sz="8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sz="85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cloud</a:t>
            </a:r>
            <a:r>
              <a:rPr sz="8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deployment.</a:t>
            </a:r>
            <a:endParaRPr sz="850">
              <a:latin typeface="Lucida Sans Unicode"/>
              <a:cs typeface="Lucida Sans Unicode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14503" y="935906"/>
            <a:ext cx="3759621" cy="37596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9235">
              <a:lnSpc>
                <a:spcPct val="100000"/>
              </a:lnSpc>
              <a:spcBef>
                <a:spcPts val="100"/>
              </a:spcBef>
            </a:pPr>
            <a:r>
              <a:rPr dirty="0"/>
              <a:t>Database</a:t>
            </a:r>
            <a:r>
              <a:rPr spc="-125" dirty="0"/>
              <a:t> </a:t>
            </a:r>
            <a:r>
              <a:rPr spc="40" dirty="0"/>
              <a:t>Design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4489" y="935906"/>
            <a:ext cx="3759621" cy="375962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01802" y="1915733"/>
            <a:ext cx="9499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7B8FF"/>
                </a:solidFill>
                <a:latin typeface="Verdana"/>
                <a:cs typeface="Verdana"/>
              </a:rPr>
              <a:t>Core</a:t>
            </a:r>
            <a:r>
              <a:rPr sz="1100" spc="40" dirty="0">
                <a:solidFill>
                  <a:srgbClr val="97B8FF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97B8FF"/>
                </a:solidFill>
                <a:latin typeface="Verdana"/>
                <a:cs typeface="Verdana"/>
              </a:rPr>
              <a:t>Entities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47876" y="2468467"/>
            <a:ext cx="133350" cy="64770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850" spc="509" dirty="0">
                <a:solidFill>
                  <a:srgbClr val="E0D6DE"/>
                </a:solidFill>
                <a:latin typeface="Arial Black"/>
                <a:cs typeface="Arial Black"/>
              </a:rPr>
              <a:t>·</a:t>
            </a:r>
            <a:endParaRPr sz="8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850" spc="509" dirty="0">
                <a:solidFill>
                  <a:srgbClr val="E0D6DE"/>
                </a:solidFill>
                <a:latin typeface="Arial Black"/>
                <a:cs typeface="Arial Black"/>
              </a:rPr>
              <a:t>·</a:t>
            </a:r>
            <a:endParaRPr sz="8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850" spc="509" dirty="0">
                <a:solidFill>
                  <a:srgbClr val="E0D6DE"/>
                </a:solidFill>
                <a:latin typeface="Arial Black"/>
                <a:cs typeface="Arial Black"/>
              </a:rPr>
              <a:t>·</a:t>
            </a:r>
            <a:endParaRPr sz="8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850" spc="509" dirty="0">
                <a:solidFill>
                  <a:srgbClr val="E0D6DE"/>
                </a:solidFill>
                <a:latin typeface="Arial Black"/>
                <a:cs typeface="Arial Black"/>
              </a:rPr>
              <a:t>·</a:t>
            </a:r>
            <a:endParaRPr sz="85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47876" y="2157571"/>
            <a:ext cx="3696970" cy="958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 marR="109855" indent="-396875">
              <a:lnSpc>
                <a:spcPct val="120000"/>
              </a:lnSpc>
              <a:spcBef>
                <a:spcPts val="100"/>
              </a:spcBef>
              <a:tabLst>
                <a:tab pos="408940" algn="l"/>
              </a:tabLst>
            </a:pPr>
            <a:r>
              <a:rPr sz="850" spc="509" dirty="0">
                <a:solidFill>
                  <a:srgbClr val="E0D6DE"/>
                </a:solidFill>
                <a:latin typeface="Arial Black"/>
                <a:cs typeface="Arial Black"/>
              </a:rPr>
              <a:t>·</a:t>
            </a:r>
            <a:r>
              <a:rPr sz="850" dirty="0">
                <a:solidFill>
                  <a:srgbClr val="E0D6DE"/>
                </a:solidFill>
                <a:latin typeface="Arial Black"/>
                <a:cs typeface="Arial Black"/>
              </a:rPr>
              <a:t>	</a:t>
            </a:r>
            <a:r>
              <a:rPr sz="850" spc="-90" dirty="0">
                <a:solidFill>
                  <a:srgbClr val="E0D6DE"/>
                </a:solidFill>
                <a:latin typeface="Arial Black"/>
                <a:cs typeface="Arial Black"/>
              </a:rPr>
              <a:t>Users</a:t>
            </a:r>
            <a:r>
              <a:rPr sz="850" spc="-60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850" spc="-100" dirty="0">
                <a:solidFill>
                  <a:srgbClr val="E0D6DE"/>
                </a:solidFill>
                <a:latin typeface="Lucida Sans Unicode"/>
                <a:cs typeface="Lucida Sans Unicode"/>
              </a:rPr>
              <a:t>—</a:t>
            </a:r>
            <a:r>
              <a:rPr sz="85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Authenticated</a:t>
            </a:r>
            <a:r>
              <a:rPr sz="85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accounts</a:t>
            </a:r>
            <a:r>
              <a:rPr sz="85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dirty="0">
                <a:solidFill>
                  <a:srgbClr val="E0D6DE"/>
                </a:solidFill>
                <a:latin typeface="Lucida Sans Unicode"/>
                <a:cs typeface="Lucida Sans Unicode"/>
              </a:rPr>
              <a:t>with</a:t>
            </a:r>
            <a:r>
              <a:rPr sz="85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role</a:t>
            </a:r>
            <a:r>
              <a:rPr sz="85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assignments</a:t>
            </a:r>
            <a:r>
              <a:rPr sz="85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(Admin, </a:t>
            </a:r>
            <a:r>
              <a:rPr sz="85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Finance, </a:t>
            </a: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Viewer)</a:t>
            </a:r>
            <a:endParaRPr sz="850">
              <a:latin typeface="Lucida Sans Unicode"/>
              <a:cs typeface="Lucida Sans Unicode"/>
            </a:endParaRPr>
          </a:p>
          <a:p>
            <a:pPr marL="408940" marR="5080">
              <a:lnSpc>
                <a:spcPct val="120000"/>
              </a:lnSpc>
            </a:pPr>
            <a:r>
              <a:rPr sz="850" spc="-70" dirty="0">
                <a:solidFill>
                  <a:srgbClr val="E0D6DE"/>
                </a:solidFill>
                <a:latin typeface="Arial Black"/>
                <a:cs typeface="Arial Black"/>
              </a:rPr>
              <a:t>Invoices</a:t>
            </a:r>
            <a:r>
              <a:rPr sz="850" spc="-60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850" spc="-100" dirty="0">
                <a:solidFill>
                  <a:srgbClr val="E0D6DE"/>
                </a:solidFill>
                <a:latin typeface="Lucida Sans Unicode"/>
                <a:cs typeface="Lucida Sans Unicode"/>
              </a:rPr>
              <a:t>—</a:t>
            </a:r>
            <a:r>
              <a:rPr sz="85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Line</a:t>
            </a:r>
            <a:r>
              <a:rPr sz="85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items,</a:t>
            </a:r>
            <a:r>
              <a:rPr sz="85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totals,</a:t>
            </a:r>
            <a:r>
              <a:rPr sz="85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 status </a:t>
            </a:r>
            <a:r>
              <a:rPr sz="85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tracking,</a:t>
            </a:r>
            <a:r>
              <a:rPr sz="85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and</a:t>
            </a:r>
            <a:r>
              <a:rPr sz="85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due</a:t>
            </a:r>
            <a:r>
              <a:rPr sz="85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dates </a:t>
            </a:r>
            <a:r>
              <a:rPr sz="850" spc="-65" dirty="0">
                <a:solidFill>
                  <a:srgbClr val="E0D6DE"/>
                </a:solidFill>
                <a:latin typeface="Arial Black"/>
                <a:cs typeface="Arial Black"/>
              </a:rPr>
              <a:t>Payments </a:t>
            </a:r>
            <a:r>
              <a:rPr sz="850" spc="-100" dirty="0">
                <a:solidFill>
                  <a:srgbClr val="E0D6DE"/>
                </a:solidFill>
                <a:latin typeface="Lucida Sans Unicode"/>
                <a:cs typeface="Lucida Sans Unicode"/>
              </a:rPr>
              <a:t>—</a:t>
            </a:r>
            <a:r>
              <a:rPr sz="850" spc="-4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Linked</a:t>
            </a:r>
            <a:r>
              <a:rPr sz="85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to</a:t>
            </a:r>
            <a:r>
              <a:rPr sz="850" spc="-4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invoices</a:t>
            </a:r>
            <a:r>
              <a:rPr sz="85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dirty="0">
                <a:solidFill>
                  <a:srgbClr val="E0D6DE"/>
                </a:solidFill>
                <a:latin typeface="Lucida Sans Unicode"/>
                <a:cs typeface="Lucida Sans Unicode"/>
              </a:rPr>
              <a:t>with</a:t>
            </a:r>
            <a:r>
              <a:rPr sz="850" spc="-4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partial/full</a:t>
            </a:r>
            <a:r>
              <a:rPr sz="85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payment</a:t>
            </a:r>
            <a:r>
              <a:rPr sz="850" spc="-4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support </a:t>
            </a:r>
            <a:r>
              <a:rPr sz="850" spc="-65" dirty="0">
                <a:solidFill>
                  <a:srgbClr val="E0D6DE"/>
                </a:solidFill>
                <a:latin typeface="Arial Black"/>
                <a:cs typeface="Arial Black"/>
              </a:rPr>
              <a:t>AuditLogs </a:t>
            </a:r>
            <a:r>
              <a:rPr sz="850" spc="-100" dirty="0">
                <a:solidFill>
                  <a:srgbClr val="E0D6DE"/>
                </a:solidFill>
                <a:latin typeface="Lucida Sans Unicode"/>
                <a:cs typeface="Lucida Sans Unicode"/>
              </a:rPr>
              <a:t>—</a:t>
            </a:r>
            <a:r>
              <a:rPr sz="850" spc="-5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Immutable</a:t>
            </a:r>
            <a:r>
              <a:rPr sz="850" spc="-5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record</a:t>
            </a:r>
            <a:r>
              <a:rPr sz="850" spc="-4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of</a:t>
            </a:r>
            <a:r>
              <a:rPr sz="850" spc="-5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all</a:t>
            </a:r>
            <a:r>
              <a:rPr sz="850" spc="-5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system</a:t>
            </a:r>
            <a:r>
              <a:rPr sz="850" spc="-4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actions</a:t>
            </a:r>
            <a:r>
              <a:rPr sz="850" spc="-5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and</a:t>
            </a:r>
            <a:r>
              <a:rPr sz="850" spc="-5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changes </a:t>
            </a:r>
            <a:r>
              <a:rPr sz="850" spc="-60" dirty="0">
                <a:solidFill>
                  <a:srgbClr val="E0D6DE"/>
                </a:solidFill>
                <a:latin typeface="Arial Black"/>
                <a:cs typeface="Arial Black"/>
              </a:rPr>
              <a:t>Reports </a:t>
            </a:r>
            <a:r>
              <a:rPr sz="850" spc="-100" dirty="0">
                <a:solidFill>
                  <a:srgbClr val="E0D6DE"/>
                </a:solidFill>
                <a:latin typeface="Lucida Sans Unicode"/>
                <a:cs typeface="Lucida Sans Unicode"/>
              </a:rPr>
              <a:t>—</a:t>
            </a:r>
            <a:r>
              <a:rPr sz="850" spc="-4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Aggregated</a:t>
            </a:r>
            <a:r>
              <a:rPr sz="850" spc="-4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views</a:t>
            </a:r>
            <a:r>
              <a:rPr sz="850" spc="-4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for</a:t>
            </a:r>
            <a:r>
              <a:rPr sz="85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dashboards</a:t>
            </a:r>
            <a:r>
              <a:rPr sz="850" spc="-4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and</a:t>
            </a:r>
            <a:r>
              <a:rPr sz="850" spc="-4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exports</a:t>
            </a:r>
            <a:endParaRPr sz="85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01802" y="3338671"/>
            <a:ext cx="3470275" cy="336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85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Foreign</a:t>
            </a:r>
            <a:r>
              <a:rPr sz="85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 key</a:t>
            </a:r>
            <a:r>
              <a:rPr sz="85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 relationships</a:t>
            </a:r>
            <a:r>
              <a:rPr sz="85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ensure referential</a:t>
            </a:r>
            <a:r>
              <a:rPr sz="85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integrity </a:t>
            </a:r>
            <a:r>
              <a:rPr sz="85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across</a:t>
            </a:r>
            <a:r>
              <a:rPr sz="85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all</a:t>
            </a:r>
            <a:r>
              <a:rPr sz="85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billing transactions.</a:t>
            </a:r>
            <a:endParaRPr sz="8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0" y="666750"/>
            <a:ext cx="2762399" cy="3809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350" spc="95" dirty="0"/>
              <a:t>Core</a:t>
            </a:r>
            <a:r>
              <a:rPr sz="2350" spc="-290" dirty="0"/>
              <a:t> </a:t>
            </a:r>
            <a:r>
              <a:rPr sz="2350" spc="-10" dirty="0"/>
              <a:t>Features</a:t>
            </a:r>
            <a:endParaRPr sz="2350"/>
          </a:p>
        </p:txBody>
      </p:sp>
      <p:grpSp>
        <p:nvGrpSpPr>
          <p:cNvPr id="4" name="object 4"/>
          <p:cNvGrpSpPr/>
          <p:nvPr/>
        </p:nvGrpSpPr>
        <p:grpSpPr>
          <a:xfrm>
            <a:off x="421630" y="1042987"/>
            <a:ext cx="2534285" cy="1724025"/>
            <a:chOff x="421630" y="1042987"/>
            <a:chExt cx="2534285" cy="1724025"/>
          </a:xfrm>
        </p:grpSpPr>
        <p:sp>
          <p:nvSpPr>
            <p:cNvPr id="5" name="object 5"/>
            <p:cNvSpPr/>
            <p:nvPr/>
          </p:nvSpPr>
          <p:spPr>
            <a:xfrm>
              <a:off x="426393" y="1047750"/>
              <a:ext cx="2524760" cy="1714500"/>
            </a:xfrm>
            <a:custGeom>
              <a:avLst/>
              <a:gdLst/>
              <a:ahLst/>
              <a:cxnLst/>
              <a:rect l="l" t="t" r="r" b="b"/>
              <a:pathLst>
                <a:path w="2524760" h="1714500">
                  <a:moveTo>
                    <a:pt x="2409911" y="1714499"/>
                  </a:moveTo>
                  <a:lnTo>
                    <a:pt x="114288" y="1714499"/>
                  </a:lnTo>
                  <a:lnTo>
                    <a:pt x="69802" y="1705518"/>
                  </a:lnTo>
                  <a:lnTo>
                    <a:pt x="33474" y="1681025"/>
                  </a:lnTo>
                  <a:lnTo>
                    <a:pt x="8981" y="1644697"/>
                  </a:lnTo>
                  <a:lnTo>
                    <a:pt x="0" y="1600211"/>
                  </a:lnTo>
                  <a:lnTo>
                    <a:pt x="0" y="114288"/>
                  </a:lnTo>
                  <a:lnTo>
                    <a:pt x="8981" y="69802"/>
                  </a:lnTo>
                  <a:lnTo>
                    <a:pt x="33474" y="33474"/>
                  </a:lnTo>
                  <a:lnTo>
                    <a:pt x="69802" y="8981"/>
                  </a:lnTo>
                  <a:lnTo>
                    <a:pt x="114288" y="0"/>
                  </a:lnTo>
                  <a:lnTo>
                    <a:pt x="2409911" y="0"/>
                  </a:lnTo>
                  <a:lnTo>
                    <a:pt x="2453647" y="8699"/>
                  </a:lnTo>
                  <a:lnTo>
                    <a:pt x="2490725" y="33474"/>
                  </a:lnTo>
                  <a:lnTo>
                    <a:pt x="2515500" y="70552"/>
                  </a:lnTo>
                  <a:lnTo>
                    <a:pt x="2524200" y="114288"/>
                  </a:lnTo>
                  <a:lnTo>
                    <a:pt x="2524200" y="1600211"/>
                  </a:lnTo>
                  <a:lnTo>
                    <a:pt x="2515218" y="1644697"/>
                  </a:lnTo>
                  <a:lnTo>
                    <a:pt x="2490725" y="1681025"/>
                  </a:lnTo>
                  <a:lnTo>
                    <a:pt x="2454397" y="1705518"/>
                  </a:lnTo>
                  <a:lnTo>
                    <a:pt x="2409911" y="1714499"/>
                  </a:lnTo>
                  <a:close/>
                </a:path>
              </a:pathLst>
            </a:custGeom>
            <a:solidFill>
              <a:srgbClr val="0A0A1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6393" y="1047750"/>
              <a:ext cx="2524760" cy="1714500"/>
            </a:xfrm>
            <a:custGeom>
              <a:avLst/>
              <a:gdLst/>
              <a:ahLst/>
              <a:cxnLst/>
              <a:rect l="l" t="t" r="r" b="b"/>
              <a:pathLst>
                <a:path w="2524760" h="1714500">
                  <a:moveTo>
                    <a:pt x="0" y="114288"/>
                  </a:moveTo>
                  <a:lnTo>
                    <a:pt x="8981" y="69802"/>
                  </a:lnTo>
                  <a:lnTo>
                    <a:pt x="33474" y="33474"/>
                  </a:lnTo>
                  <a:lnTo>
                    <a:pt x="69802" y="8981"/>
                  </a:lnTo>
                  <a:lnTo>
                    <a:pt x="114288" y="0"/>
                  </a:lnTo>
                  <a:lnTo>
                    <a:pt x="2409911" y="0"/>
                  </a:lnTo>
                  <a:lnTo>
                    <a:pt x="2453647" y="8699"/>
                  </a:lnTo>
                  <a:lnTo>
                    <a:pt x="2490725" y="33474"/>
                  </a:lnTo>
                  <a:lnTo>
                    <a:pt x="2515500" y="70552"/>
                  </a:lnTo>
                  <a:lnTo>
                    <a:pt x="2524200" y="114288"/>
                  </a:lnTo>
                  <a:lnTo>
                    <a:pt x="2524200" y="1600211"/>
                  </a:lnTo>
                  <a:lnTo>
                    <a:pt x="2515218" y="1644697"/>
                  </a:lnTo>
                  <a:lnTo>
                    <a:pt x="2490725" y="1681025"/>
                  </a:lnTo>
                  <a:lnTo>
                    <a:pt x="2454397" y="1705518"/>
                  </a:lnTo>
                  <a:lnTo>
                    <a:pt x="2409911" y="1714499"/>
                  </a:lnTo>
                  <a:lnTo>
                    <a:pt x="114288" y="1714499"/>
                  </a:lnTo>
                  <a:lnTo>
                    <a:pt x="69802" y="1705518"/>
                  </a:lnTo>
                  <a:lnTo>
                    <a:pt x="33474" y="1681025"/>
                  </a:lnTo>
                  <a:lnTo>
                    <a:pt x="8981" y="1644697"/>
                  </a:lnTo>
                  <a:lnTo>
                    <a:pt x="0" y="1600211"/>
                  </a:lnTo>
                  <a:lnTo>
                    <a:pt x="0" y="114288"/>
                  </a:lnTo>
                  <a:close/>
                </a:path>
              </a:pathLst>
            </a:custGeom>
            <a:ln w="9524">
              <a:solidFill>
                <a:srgbClr val="1E1E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975" y="1156208"/>
              <a:ext cx="228600" cy="2540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11175" y="1483664"/>
            <a:ext cx="2291715" cy="85979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1300" dirty="0">
                <a:solidFill>
                  <a:srgbClr val="FFFFFF"/>
                </a:solidFill>
                <a:latin typeface="Verdana"/>
                <a:cs typeface="Verdana"/>
              </a:rPr>
              <a:t>Invoice</a:t>
            </a:r>
            <a:r>
              <a:rPr sz="13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Verdana"/>
                <a:cs typeface="Verdana"/>
              </a:rPr>
              <a:t>Management</a:t>
            </a:r>
            <a:endParaRPr sz="13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610"/>
              </a:spcBef>
            </a:pPr>
            <a:r>
              <a:rPr sz="100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Create,</a:t>
            </a:r>
            <a:r>
              <a:rPr sz="1000" spc="-6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edit,</a:t>
            </a:r>
            <a:r>
              <a:rPr sz="1000" spc="-6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and</a:t>
            </a:r>
            <a:r>
              <a:rPr sz="1000" spc="-6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track</a:t>
            </a:r>
            <a:r>
              <a:rPr sz="1000" spc="-6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invoices</a:t>
            </a:r>
            <a:r>
              <a:rPr sz="1000" spc="-6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with automated</a:t>
            </a:r>
            <a:r>
              <a:rPr sz="1000" spc="-5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numbering,</a:t>
            </a:r>
            <a:r>
              <a:rPr sz="1000" spc="-4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line</a:t>
            </a:r>
            <a:r>
              <a:rPr sz="1000" spc="-5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items,</a:t>
            </a:r>
            <a:r>
              <a:rPr sz="1000" spc="-4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and </a:t>
            </a:r>
            <a:r>
              <a:rPr sz="100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status</a:t>
            </a:r>
            <a:r>
              <a:rPr sz="1000" spc="-6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workﬂows.</a:t>
            </a:r>
            <a:endParaRPr sz="1000">
              <a:latin typeface="Lucida Sans Unicode"/>
              <a:cs typeface="Lucida Sans Unicod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090862" y="1042987"/>
            <a:ext cx="2534285" cy="1724025"/>
            <a:chOff x="3090862" y="1042987"/>
            <a:chExt cx="2534285" cy="1724025"/>
          </a:xfrm>
        </p:grpSpPr>
        <p:sp>
          <p:nvSpPr>
            <p:cNvPr id="10" name="object 10"/>
            <p:cNvSpPr/>
            <p:nvPr/>
          </p:nvSpPr>
          <p:spPr>
            <a:xfrm>
              <a:off x="3095625" y="1047750"/>
              <a:ext cx="2524760" cy="1714500"/>
            </a:xfrm>
            <a:custGeom>
              <a:avLst/>
              <a:gdLst/>
              <a:ahLst/>
              <a:cxnLst/>
              <a:rect l="l" t="t" r="r" b="b"/>
              <a:pathLst>
                <a:path w="2524760" h="1714500">
                  <a:moveTo>
                    <a:pt x="2409911" y="1714499"/>
                  </a:moveTo>
                  <a:lnTo>
                    <a:pt x="114288" y="1714499"/>
                  </a:lnTo>
                  <a:lnTo>
                    <a:pt x="69802" y="1705518"/>
                  </a:lnTo>
                  <a:lnTo>
                    <a:pt x="33474" y="1681025"/>
                  </a:lnTo>
                  <a:lnTo>
                    <a:pt x="8981" y="1644697"/>
                  </a:lnTo>
                  <a:lnTo>
                    <a:pt x="0" y="1600211"/>
                  </a:lnTo>
                  <a:lnTo>
                    <a:pt x="0" y="114288"/>
                  </a:lnTo>
                  <a:lnTo>
                    <a:pt x="8981" y="69802"/>
                  </a:lnTo>
                  <a:lnTo>
                    <a:pt x="33474" y="33474"/>
                  </a:lnTo>
                  <a:lnTo>
                    <a:pt x="69802" y="8981"/>
                  </a:lnTo>
                  <a:lnTo>
                    <a:pt x="114288" y="0"/>
                  </a:lnTo>
                  <a:lnTo>
                    <a:pt x="2409911" y="0"/>
                  </a:lnTo>
                  <a:lnTo>
                    <a:pt x="2453647" y="8699"/>
                  </a:lnTo>
                  <a:lnTo>
                    <a:pt x="2490725" y="33474"/>
                  </a:lnTo>
                  <a:lnTo>
                    <a:pt x="2515500" y="70552"/>
                  </a:lnTo>
                  <a:lnTo>
                    <a:pt x="2524199" y="114288"/>
                  </a:lnTo>
                  <a:lnTo>
                    <a:pt x="2524199" y="1600211"/>
                  </a:lnTo>
                  <a:lnTo>
                    <a:pt x="2515218" y="1644697"/>
                  </a:lnTo>
                  <a:lnTo>
                    <a:pt x="2490725" y="1681025"/>
                  </a:lnTo>
                  <a:lnTo>
                    <a:pt x="2454397" y="1705518"/>
                  </a:lnTo>
                  <a:lnTo>
                    <a:pt x="2409911" y="1714499"/>
                  </a:lnTo>
                  <a:close/>
                </a:path>
              </a:pathLst>
            </a:custGeom>
            <a:solidFill>
              <a:srgbClr val="0A0A1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95625" y="1047750"/>
              <a:ext cx="2524760" cy="1714500"/>
            </a:xfrm>
            <a:custGeom>
              <a:avLst/>
              <a:gdLst/>
              <a:ahLst/>
              <a:cxnLst/>
              <a:rect l="l" t="t" r="r" b="b"/>
              <a:pathLst>
                <a:path w="2524760" h="1714500">
                  <a:moveTo>
                    <a:pt x="0" y="114288"/>
                  </a:moveTo>
                  <a:lnTo>
                    <a:pt x="8981" y="69802"/>
                  </a:lnTo>
                  <a:lnTo>
                    <a:pt x="33474" y="33474"/>
                  </a:lnTo>
                  <a:lnTo>
                    <a:pt x="69802" y="8981"/>
                  </a:lnTo>
                  <a:lnTo>
                    <a:pt x="114288" y="0"/>
                  </a:lnTo>
                  <a:lnTo>
                    <a:pt x="2409911" y="0"/>
                  </a:lnTo>
                  <a:lnTo>
                    <a:pt x="2453647" y="8699"/>
                  </a:lnTo>
                  <a:lnTo>
                    <a:pt x="2490725" y="33474"/>
                  </a:lnTo>
                  <a:lnTo>
                    <a:pt x="2515500" y="70552"/>
                  </a:lnTo>
                  <a:lnTo>
                    <a:pt x="2524199" y="114288"/>
                  </a:lnTo>
                  <a:lnTo>
                    <a:pt x="2524199" y="1600211"/>
                  </a:lnTo>
                  <a:lnTo>
                    <a:pt x="2515218" y="1644697"/>
                  </a:lnTo>
                  <a:lnTo>
                    <a:pt x="2490725" y="1681025"/>
                  </a:lnTo>
                  <a:lnTo>
                    <a:pt x="2454397" y="1705518"/>
                  </a:lnTo>
                  <a:lnTo>
                    <a:pt x="2409911" y="1714499"/>
                  </a:lnTo>
                  <a:lnTo>
                    <a:pt x="114288" y="1714499"/>
                  </a:lnTo>
                  <a:lnTo>
                    <a:pt x="69802" y="1705518"/>
                  </a:lnTo>
                  <a:lnTo>
                    <a:pt x="33474" y="1681025"/>
                  </a:lnTo>
                  <a:lnTo>
                    <a:pt x="8981" y="1644697"/>
                  </a:lnTo>
                  <a:lnTo>
                    <a:pt x="0" y="1600211"/>
                  </a:lnTo>
                  <a:lnTo>
                    <a:pt x="0" y="114288"/>
                  </a:lnTo>
                  <a:close/>
                </a:path>
              </a:pathLst>
            </a:custGeom>
            <a:ln w="9524">
              <a:solidFill>
                <a:srgbClr val="1E1E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00400" y="1178433"/>
              <a:ext cx="285750" cy="20955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178175" y="1483664"/>
            <a:ext cx="2327910" cy="85979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1300" dirty="0">
                <a:solidFill>
                  <a:srgbClr val="FFFFFF"/>
                </a:solidFill>
                <a:latin typeface="Verdana"/>
                <a:cs typeface="Verdana"/>
              </a:rPr>
              <a:t>Payment</a:t>
            </a:r>
            <a:r>
              <a:rPr sz="130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Verdana"/>
                <a:cs typeface="Verdana"/>
              </a:rPr>
              <a:t>Tracking</a:t>
            </a:r>
            <a:endParaRPr sz="13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610"/>
              </a:spcBef>
            </a:pPr>
            <a:r>
              <a:rPr sz="100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Real-</a:t>
            </a:r>
            <a:r>
              <a:rPr sz="10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time</a:t>
            </a:r>
            <a:r>
              <a:rPr sz="1000" spc="-5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payment</a:t>
            </a:r>
            <a:r>
              <a:rPr sz="1000" spc="-5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status</a:t>
            </a:r>
            <a:r>
              <a:rPr sz="1000" spc="-5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updates</a:t>
            </a:r>
            <a:r>
              <a:rPr sz="1000" spc="-5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with </a:t>
            </a:r>
            <a:r>
              <a:rPr sz="10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support</a:t>
            </a:r>
            <a:r>
              <a:rPr sz="1000" spc="-5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for</a:t>
            </a:r>
            <a:r>
              <a:rPr sz="1000" spc="-5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partial</a:t>
            </a:r>
            <a:r>
              <a:rPr sz="1000" spc="-5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payments</a:t>
            </a:r>
            <a:r>
              <a:rPr sz="1000" spc="-5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and </a:t>
            </a:r>
            <a:r>
              <a:rPr sz="10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reconciliation.</a:t>
            </a:r>
            <a:endParaRPr sz="100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21630" y="2900362"/>
            <a:ext cx="2534285" cy="1724025"/>
            <a:chOff x="421630" y="2900362"/>
            <a:chExt cx="2534285" cy="1724025"/>
          </a:xfrm>
        </p:grpSpPr>
        <p:sp>
          <p:nvSpPr>
            <p:cNvPr id="15" name="object 15"/>
            <p:cNvSpPr/>
            <p:nvPr/>
          </p:nvSpPr>
          <p:spPr>
            <a:xfrm>
              <a:off x="426393" y="2905125"/>
              <a:ext cx="2524760" cy="1714500"/>
            </a:xfrm>
            <a:custGeom>
              <a:avLst/>
              <a:gdLst/>
              <a:ahLst/>
              <a:cxnLst/>
              <a:rect l="l" t="t" r="r" b="b"/>
              <a:pathLst>
                <a:path w="2524760" h="1714500">
                  <a:moveTo>
                    <a:pt x="2409911" y="1714499"/>
                  </a:moveTo>
                  <a:lnTo>
                    <a:pt x="114288" y="1714499"/>
                  </a:lnTo>
                  <a:lnTo>
                    <a:pt x="69802" y="1705518"/>
                  </a:lnTo>
                  <a:lnTo>
                    <a:pt x="33474" y="1681025"/>
                  </a:lnTo>
                  <a:lnTo>
                    <a:pt x="8981" y="1644697"/>
                  </a:lnTo>
                  <a:lnTo>
                    <a:pt x="0" y="1600211"/>
                  </a:lnTo>
                  <a:lnTo>
                    <a:pt x="0" y="114288"/>
                  </a:lnTo>
                  <a:lnTo>
                    <a:pt x="8981" y="69802"/>
                  </a:lnTo>
                  <a:lnTo>
                    <a:pt x="33474" y="33474"/>
                  </a:lnTo>
                  <a:lnTo>
                    <a:pt x="69802" y="8981"/>
                  </a:lnTo>
                  <a:lnTo>
                    <a:pt x="114288" y="0"/>
                  </a:lnTo>
                  <a:lnTo>
                    <a:pt x="2409911" y="0"/>
                  </a:lnTo>
                  <a:lnTo>
                    <a:pt x="2453647" y="8699"/>
                  </a:lnTo>
                  <a:lnTo>
                    <a:pt x="2490725" y="33474"/>
                  </a:lnTo>
                  <a:lnTo>
                    <a:pt x="2515500" y="70552"/>
                  </a:lnTo>
                  <a:lnTo>
                    <a:pt x="2524200" y="114288"/>
                  </a:lnTo>
                  <a:lnTo>
                    <a:pt x="2524200" y="1600211"/>
                  </a:lnTo>
                  <a:lnTo>
                    <a:pt x="2515218" y="1644697"/>
                  </a:lnTo>
                  <a:lnTo>
                    <a:pt x="2490725" y="1681025"/>
                  </a:lnTo>
                  <a:lnTo>
                    <a:pt x="2454397" y="1705518"/>
                  </a:lnTo>
                  <a:lnTo>
                    <a:pt x="2409911" y="1714499"/>
                  </a:lnTo>
                  <a:close/>
                </a:path>
              </a:pathLst>
            </a:custGeom>
            <a:solidFill>
              <a:srgbClr val="0A0A1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6393" y="2905125"/>
              <a:ext cx="2524760" cy="1714500"/>
            </a:xfrm>
            <a:custGeom>
              <a:avLst/>
              <a:gdLst/>
              <a:ahLst/>
              <a:cxnLst/>
              <a:rect l="l" t="t" r="r" b="b"/>
              <a:pathLst>
                <a:path w="2524760" h="1714500">
                  <a:moveTo>
                    <a:pt x="0" y="114288"/>
                  </a:moveTo>
                  <a:lnTo>
                    <a:pt x="8981" y="69802"/>
                  </a:lnTo>
                  <a:lnTo>
                    <a:pt x="33474" y="33474"/>
                  </a:lnTo>
                  <a:lnTo>
                    <a:pt x="69802" y="8981"/>
                  </a:lnTo>
                  <a:lnTo>
                    <a:pt x="114288" y="0"/>
                  </a:lnTo>
                  <a:lnTo>
                    <a:pt x="2409911" y="0"/>
                  </a:lnTo>
                  <a:lnTo>
                    <a:pt x="2453647" y="8699"/>
                  </a:lnTo>
                  <a:lnTo>
                    <a:pt x="2490725" y="33474"/>
                  </a:lnTo>
                  <a:lnTo>
                    <a:pt x="2515500" y="70552"/>
                  </a:lnTo>
                  <a:lnTo>
                    <a:pt x="2524200" y="114288"/>
                  </a:lnTo>
                  <a:lnTo>
                    <a:pt x="2524200" y="1600211"/>
                  </a:lnTo>
                  <a:lnTo>
                    <a:pt x="2515218" y="1644697"/>
                  </a:lnTo>
                  <a:lnTo>
                    <a:pt x="2490725" y="1681025"/>
                  </a:lnTo>
                  <a:lnTo>
                    <a:pt x="2454397" y="1705518"/>
                  </a:lnTo>
                  <a:lnTo>
                    <a:pt x="2409911" y="1714499"/>
                  </a:lnTo>
                  <a:lnTo>
                    <a:pt x="114288" y="1714499"/>
                  </a:lnTo>
                  <a:lnTo>
                    <a:pt x="69802" y="1705518"/>
                  </a:lnTo>
                  <a:lnTo>
                    <a:pt x="33474" y="1681025"/>
                  </a:lnTo>
                  <a:lnTo>
                    <a:pt x="8981" y="1644697"/>
                  </a:lnTo>
                  <a:lnTo>
                    <a:pt x="0" y="1600211"/>
                  </a:lnTo>
                  <a:lnTo>
                    <a:pt x="0" y="114288"/>
                  </a:lnTo>
                  <a:close/>
                </a:path>
              </a:pathLst>
            </a:custGeom>
            <a:ln w="9524">
              <a:solidFill>
                <a:srgbClr val="1E1E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1975" y="3026283"/>
              <a:ext cx="228600" cy="2286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511175" y="3341039"/>
            <a:ext cx="2185035" cy="85979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1300" dirty="0">
                <a:solidFill>
                  <a:srgbClr val="FFFFFF"/>
                </a:solidFill>
                <a:latin typeface="Verdana"/>
                <a:cs typeface="Verdana"/>
              </a:rPr>
              <a:t>Reports</a:t>
            </a:r>
            <a:r>
              <a:rPr sz="1300" spc="-45" dirty="0">
                <a:solidFill>
                  <a:srgbClr val="FFFFFF"/>
                </a:solidFill>
                <a:latin typeface="Verdana"/>
                <a:cs typeface="Verdana"/>
              </a:rPr>
              <a:t> &amp; </a:t>
            </a:r>
            <a:r>
              <a:rPr sz="1300" spc="-10" dirty="0">
                <a:solidFill>
                  <a:srgbClr val="FFFFFF"/>
                </a:solidFill>
                <a:latin typeface="Verdana"/>
                <a:cs typeface="Verdana"/>
              </a:rPr>
              <a:t>Dashboard</a:t>
            </a:r>
            <a:endParaRPr sz="13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610"/>
              </a:spcBef>
            </a:pPr>
            <a:r>
              <a:rPr sz="100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Visual</a:t>
            </a:r>
            <a:r>
              <a:rPr sz="1000" spc="-6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E0D6DE"/>
                </a:solidFill>
                <a:latin typeface="Lucida Sans Unicode"/>
                <a:cs typeface="Lucida Sans Unicode"/>
              </a:rPr>
              <a:t>KPIs,</a:t>
            </a:r>
            <a:r>
              <a:rPr sz="1000" spc="-5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revenue</a:t>
            </a:r>
            <a:r>
              <a:rPr sz="1000" spc="-5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summaries,</a:t>
            </a:r>
            <a:r>
              <a:rPr sz="1000" spc="-5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and </a:t>
            </a:r>
            <a:r>
              <a:rPr sz="1000" spc="-15" dirty="0">
                <a:solidFill>
                  <a:srgbClr val="E0D6DE"/>
                </a:solidFill>
                <a:latin typeface="Lucida Sans Unicode"/>
                <a:cs typeface="Lucida Sans Unicode"/>
              </a:rPr>
              <a:t>trend</a:t>
            </a:r>
            <a:r>
              <a:rPr sz="1000" spc="-5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charts</a:t>
            </a:r>
            <a:r>
              <a:rPr sz="1000" spc="-5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for</a:t>
            </a:r>
            <a:r>
              <a:rPr sz="1000" spc="-5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executive-</a:t>
            </a:r>
            <a:r>
              <a:rPr sz="10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level </a:t>
            </a:r>
            <a:r>
              <a:rPr sz="10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ﬁnancial </a:t>
            </a:r>
            <a:r>
              <a:rPr sz="10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oversight.</a:t>
            </a:r>
            <a:endParaRPr sz="1000">
              <a:latin typeface="Lucida Sans Unicode"/>
              <a:cs typeface="Lucida Sans Unicode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090862" y="2900362"/>
            <a:ext cx="2534285" cy="1724025"/>
            <a:chOff x="3090862" y="2900362"/>
            <a:chExt cx="2534285" cy="1724025"/>
          </a:xfrm>
        </p:grpSpPr>
        <p:sp>
          <p:nvSpPr>
            <p:cNvPr id="20" name="object 20"/>
            <p:cNvSpPr/>
            <p:nvPr/>
          </p:nvSpPr>
          <p:spPr>
            <a:xfrm>
              <a:off x="3095625" y="2905125"/>
              <a:ext cx="2524760" cy="1714500"/>
            </a:xfrm>
            <a:custGeom>
              <a:avLst/>
              <a:gdLst/>
              <a:ahLst/>
              <a:cxnLst/>
              <a:rect l="l" t="t" r="r" b="b"/>
              <a:pathLst>
                <a:path w="2524760" h="1714500">
                  <a:moveTo>
                    <a:pt x="2409911" y="1714499"/>
                  </a:moveTo>
                  <a:lnTo>
                    <a:pt x="114288" y="1714499"/>
                  </a:lnTo>
                  <a:lnTo>
                    <a:pt x="69802" y="1705518"/>
                  </a:lnTo>
                  <a:lnTo>
                    <a:pt x="33474" y="1681025"/>
                  </a:lnTo>
                  <a:lnTo>
                    <a:pt x="8981" y="1644697"/>
                  </a:lnTo>
                  <a:lnTo>
                    <a:pt x="0" y="1600211"/>
                  </a:lnTo>
                  <a:lnTo>
                    <a:pt x="0" y="114288"/>
                  </a:lnTo>
                  <a:lnTo>
                    <a:pt x="8981" y="69802"/>
                  </a:lnTo>
                  <a:lnTo>
                    <a:pt x="33474" y="33474"/>
                  </a:lnTo>
                  <a:lnTo>
                    <a:pt x="69802" y="8981"/>
                  </a:lnTo>
                  <a:lnTo>
                    <a:pt x="114288" y="0"/>
                  </a:lnTo>
                  <a:lnTo>
                    <a:pt x="2409911" y="0"/>
                  </a:lnTo>
                  <a:lnTo>
                    <a:pt x="2453647" y="8699"/>
                  </a:lnTo>
                  <a:lnTo>
                    <a:pt x="2490725" y="33474"/>
                  </a:lnTo>
                  <a:lnTo>
                    <a:pt x="2515500" y="70552"/>
                  </a:lnTo>
                  <a:lnTo>
                    <a:pt x="2524199" y="114288"/>
                  </a:lnTo>
                  <a:lnTo>
                    <a:pt x="2524199" y="1600211"/>
                  </a:lnTo>
                  <a:lnTo>
                    <a:pt x="2515218" y="1644697"/>
                  </a:lnTo>
                  <a:lnTo>
                    <a:pt x="2490725" y="1681025"/>
                  </a:lnTo>
                  <a:lnTo>
                    <a:pt x="2454397" y="1705518"/>
                  </a:lnTo>
                  <a:lnTo>
                    <a:pt x="2409911" y="1714499"/>
                  </a:lnTo>
                  <a:close/>
                </a:path>
              </a:pathLst>
            </a:custGeom>
            <a:solidFill>
              <a:srgbClr val="0A0A1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95625" y="2905125"/>
              <a:ext cx="2524760" cy="1714500"/>
            </a:xfrm>
            <a:custGeom>
              <a:avLst/>
              <a:gdLst/>
              <a:ahLst/>
              <a:cxnLst/>
              <a:rect l="l" t="t" r="r" b="b"/>
              <a:pathLst>
                <a:path w="2524760" h="1714500">
                  <a:moveTo>
                    <a:pt x="0" y="114288"/>
                  </a:moveTo>
                  <a:lnTo>
                    <a:pt x="8981" y="69802"/>
                  </a:lnTo>
                  <a:lnTo>
                    <a:pt x="33474" y="33474"/>
                  </a:lnTo>
                  <a:lnTo>
                    <a:pt x="69802" y="8981"/>
                  </a:lnTo>
                  <a:lnTo>
                    <a:pt x="114288" y="0"/>
                  </a:lnTo>
                  <a:lnTo>
                    <a:pt x="2409911" y="0"/>
                  </a:lnTo>
                  <a:lnTo>
                    <a:pt x="2453647" y="8699"/>
                  </a:lnTo>
                  <a:lnTo>
                    <a:pt x="2490725" y="33474"/>
                  </a:lnTo>
                  <a:lnTo>
                    <a:pt x="2515500" y="70552"/>
                  </a:lnTo>
                  <a:lnTo>
                    <a:pt x="2524199" y="114288"/>
                  </a:lnTo>
                  <a:lnTo>
                    <a:pt x="2524199" y="1600211"/>
                  </a:lnTo>
                  <a:lnTo>
                    <a:pt x="2515218" y="1644697"/>
                  </a:lnTo>
                  <a:lnTo>
                    <a:pt x="2490725" y="1681025"/>
                  </a:lnTo>
                  <a:lnTo>
                    <a:pt x="2454397" y="1705518"/>
                  </a:lnTo>
                  <a:lnTo>
                    <a:pt x="2409911" y="1714499"/>
                  </a:lnTo>
                  <a:lnTo>
                    <a:pt x="114288" y="1714499"/>
                  </a:lnTo>
                  <a:lnTo>
                    <a:pt x="69802" y="1705518"/>
                  </a:lnTo>
                  <a:lnTo>
                    <a:pt x="33474" y="1681025"/>
                  </a:lnTo>
                  <a:lnTo>
                    <a:pt x="8981" y="1644697"/>
                  </a:lnTo>
                  <a:lnTo>
                    <a:pt x="0" y="1600211"/>
                  </a:lnTo>
                  <a:lnTo>
                    <a:pt x="0" y="114288"/>
                  </a:lnTo>
                  <a:close/>
                </a:path>
              </a:pathLst>
            </a:custGeom>
            <a:ln w="9524">
              <a:solidFill>
                <a:srgbClr val="1E1E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28975" y="3026283"/>
              <a:ext cx="228600" cy="22860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3178175" y="3341039"/>
            <a:ext cx="2133600" cy="85979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1300" spc="50" dirty="0">
                <a:solidFill>
                  <a:srgbClr val="FFFFFF"/>
                </a:solidFill>
                <a:latin typeface="Verdana"/>
                <a:cs typeface="Verdana"/>
              </a:rPr>
              <a:t>Audit</a:t>
            </a:r>
            <a:r>
              <a:rPr sz="13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FFFFFF"/>
                </a:solidFill>
                <a:latin typeface="Verdana"/>
                <a:cs typeface="Verdana"/>
              </a:rPr>
              <a:t>Logs</a:t>
            </a:r>
            <a:r>
              <a:rPr sz="13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00" spc="-45" dirty="0">
                <a:solidFill>
                  <a:srgbClr val="FFFFFF"/>
                </a:solidFill>
                <a:latin typeface="Verdana"/>
                <a:cs typeface="Verdana"/>
              </a:rPr>
              <a:t>&amp;</a:t>
            </a:r>
            <a:r>
              <a:rPr sz="13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Verdana"/>
                <a:cs typeface="Verdana"/>
              </a:rPr>
              <a:t>RBAC</a:t>
            </a:r>
            <a:endParaRPr sz="13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610"/>
              </a:spcBef>
            </a:pPr>
            <a:r>
              <a:rPr sz="10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Immutable</a:t>
            </a:r>
            <a:r>
              <a:rPr sz="1000" spc="-6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action</a:t>
            </a:r>
            <a:r>
              <a:rPr sz="1000" spc="-6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logs</a:t>
            </a:r>
            <a:r>
              <a:rPr sz="1000" spc="-6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and</a:t>
            </a:r>
            <a:r>
              <a:rPr sz="1000" spc="-6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granular </a:t>
            </a:r>
            <a:r>
              <a:rPr sz="1000" spc="-45" dirty="0">
                <a:solidFill>
                  <a:srgbClr val="E0D6DE"/>
                </a:solidFill>
                <a:latin typeface="Lucida Sans Unicode"/>
                <a:cs typeface="Lucida Sans Unicode"/>
              </a:rPr>
              <a:t>role-based </a:t>
            </a:r>
            <a:r>
              <a:rPr sz="100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access</a:t>
            </a:r>
            <a:r>
              <a:rPr sz="100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control</a:t>
            </a:r>
            <a:r>
              <a:rPr sz="100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for </a:t>
            </a:r>
            <a:r>
              <a:rPr sz="10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compliance</a:t>
            </a:r>
            <a:r>
              <a:rPr sz="1000" spc="-5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and</a:t>
            </a:r>
            <a:r>
              <a:rPr sz="1000" spc="-5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security.</a:t>
            </a:r>
            <a:endParaRPr sz="1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3418" y="961921"/>
            <a:ext cx="3910329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50" dirty="0"/>
              <a:t>Security</a:t>
            </a:r>
            <a:r>
              <a:rPr sz="2750" spc="-235" dirty="0"/>
              <a:t> </a:t>
            </a:r>
            <a:r>
              <a:rPr sz="2750" spc="-80" dirty="0"/>
              <a:t>&amp;</a:t>
            </a:r>
            <a:r>
              <a:rPr sz="2750" spc="-229" dirty="0"/>
              <a:t> </a:t>
            </a:r>
            <a:r>
              <a:rPr sz="2750" dirty="0"/>
              <a:t>API</a:t>
            </a:r>
            <a:r>
              <a:rPr sz="2750" spc="-229" dirty="0"/>
              <a:t> </a:t>
            </a:r>
            <a:r>
              <a:rPr sz="2750" spc="-10" dirty="0"/>
              <a:t>Testing</a:t>
            </a:r>
            <a:endParaRPr sz="27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JWT</a:t>
            </a:r>
            <a:r>
              <a:rPr spc="-70" dirty="0"/>
              <a:t> </a:t>
            </a:r>
            <a:r>
              <a:rPr spc="10" dirty="0"/>
              <a:t>Authorization</a:t>
            </a:r>
            <a:r>
              <a:rPr spc="-70" dirty="0"/>
              <a:t> </a:t>
            </a:r>
            <a:r>
              <a:rPr spc="-20" dirty="0"/>
              <a:t>Flow</a:t>
            </a:r>
          </a:p>
          <a:p>
            <a:pPr marL="12700" marR="5080">
              <a:lnSpc>
                <a:spcPct val="133000"/>
              </a:lnSpc>
              <a:spcBef>
                <a:spcPts val="815"/>
              </a:spcBef>
            </a:pPr>
            <a:r>
              <a:rPr sz="110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Users</a:t>
            </a:r>
            <a:r>
              <a:rPr sz="1100" spc="-6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authenticate</a:t>
            </a:r>
            <a:r>
              <a:rPr sz="1100" spc="-5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via</a:t>
            </a:r>
            <a:r>
              <a:rPr sz="1100" spc="-6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credentials;</a:t>
            </a:r>
            <a:r>
              <a:rPr sz="1100" spc="-5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the</a:t>
            </a:r>
            <a:r>
              <a:rPr sz="1100" spc="-6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server</a:t>
            </a:r>
            <a:r>
              <a:rPr sz="1100" spc="-5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issues</a:t>
            </a:r>
            <a:r>
              <a:rPr sz="1100" spc="-6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50" dirty="0">
                <a:solidFill>
                  <a:srgbClr val="E0D6DE"/>
                </a:solidFill>
                <a:latin typeface="Lucida Sans Unicode"/>
                <a:cs typeface="Lucida Sans Unicode"/>
              </a:rPr>
              <a:t>a </a:t>
            </a:r>
            <a:r>
              <a:rPr sz="110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signed</a:t>
            </a:r>
            <a:r>
              <a:rPr sz="110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75" dirty="0">
                <a:solidFill>
                  <a:srgbClr val="E0D6DE"/>
                </a:solidFill>
                <a:latin typeface="Lucida Sans Unicode"/>
                <a:cs typeface="Lucida Sans Unicode"/>
              </a:rPr>
              <a:t>JWT</a:t>
            </a:r>
            <a:r>
              <a:rPr sz="1100" spc="-6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token.</a:t>
            </a:r>
            <a:r>
              <a:rPr sz="1100" spc="-6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Every</a:t>
            </a:r>
            <a:r>
              <a:rPr sz="1100" spc="-6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subsequent</a:t>
            </a:r>
            <a:r>
              <a:rPr sz="1100" spc="-6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E0D6DE"/>
                </a:solidFill>
                <a:latin typeface="Lucida Sans Unicode"/>
                <a:cs typeface="Lucida Sans Unicode"/>
              </a:rPr>
              <a:t>API</a:t>
            </a:r>
            <a:r>
              <a:rPr sz="1100" spc="-6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request</a:t>
            </a:r>
            <a:r>
              <a:rPr sz="1100" spc="-6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includes </a:t>
            </a:r>
            <a:r>
              <a:rPr sz="11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the</a:t>
            </a:r>
            <a:r>
              <a:rPr sz="1100" spc="-5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token</a:t>
            </a:r>
            <a:r>
              <a:rPr sz="1100" spc="-5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15" dirty="0">
                <a:solidFill>
                  <a:srgbClr val="E0D6DE"/>
                </a:solidFill>
                <a:latin typeface="Lucida Sans Unicode"/>
                <a:cs typeface="Lucida Sans Unicode"/>
              </a:rPr>
              <a:t>in</a:t>
            </a:r>
            <a:r>
              <a:rPr sz="1100" spc="-5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the</a:t>
            </a:r>
            <a:r>
              <a:rPr sz="1100" spc="-5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Authorization</a:t>
            </a:r>
            <a:r>
              <a:rPr sz="1100" spc="-5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header,</a:t>
            </a:r>
            <a:r>
              <a:rPr sz="1100" spc="-5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validated</a:t>
            </a:r>
            <a:r>
              <a:rPr sz="1100" spc="-5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by </a:t>
            </a:r>
            <a:r>
              <a:rPr sz="11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middleware</a:t>
            </a:r>
            <a:r>
              <a:rPr sz="110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before</a:t>
            </a:r>
            <a:r>
              <a:rPr sz="110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granting</a:t>
            </a:r>
            <a:r>
              <a:rPr sz="110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access</a:t>
            </a:r>
            <a:r>
              <a:rPr sz="110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to</a:t>
            </a:r>
            <a:r>
              <a:rPr sz="1100" spc="-6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protected</a:t>
            </a:r>
            <a:r>
              <a:rPr sz="110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resources.</a:t>
            </a:r>
            <a:endParaRPr sz="110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96118" y="3215877"/>
            <a:ext cx="3903345" cy="779780"/>
            <a:chOff x="496118" y="3215877"/>
            <a:chExt cx="3903345" cy="779780"/>
          </a:xfrm>
        </p:grpSpPr>
        <p:sp>
          <p:nvSpPr>
            <p:cNvPr id="5" name="object 5"/>
            <p:cNvSpPr/>
            <p:nvPr/>
          </p:nvSpPr>
          <p:spPr>
            <a:xfrm>
              <a:off x="496118" y="3215877"/>
              <a:ext cx="3903345" cy="779780"/>
            </a:xfrm>
            <a:custGeom>
              <a:avLst/>
              <a:gdLst/>
              <a:ahLst/>
              <a:cxnLst/>
              <a:rect l="l" t="t" r="r" b="b"/>
              <a:pathLst>
                <a:path w="3903345" h="779779">
                  <a:moveTo>
                    <a:pt x="3881676" y="779561"/>
                  </a:moveTo>
                  <a:lnTo>
                    <a:pt x="21266" y="779561"/>
                  </a:lnTo>
                  <a:lnTo>
                    <a:pt x="12988" y="777890"/>
                  </a:lnTo>
                  <a:lnTo>
                    <a:pt x="6228" y="773333"/>
                  </a:lnTo>
                  <a:lnTo>
                    <a:pt x="1671" y="766573"/>
                  </a:lnTo>
                  <a:lnTo>
                    <a:pt x="0" y="758295"/>
                  </a:lnTo>
                  <a:lnTo>
                    <a:pt x="0" y="21266"/>
                  </a:lnTo>
                  <a:lnTo>
                    <a:pt x="1671" y="12988"/>
                  </a:lnTo>
                  <a:lnTo>
                    <a:pt x="6228" y="6228"/>
                  </a:lnTo>
                  <a:lnTo>
                    <a:pt x="12988" y="1671"/>
                  </a:lnTo>
                  <a:lnTo>
                    <a:pt x="21266" y="0"/>
                  </a:lnTo>
                  <a:lnTo>
                    <a:pt x="3887316" y="0"/>
                  </a:lnTo>
                  <a:lnTo>
                    <a:pt x="3892725" y="2240"/>
                  </a:lnTo>
                  <a:lnTo>
                    <a:pt x="3900702" y="10217"/>
                  </a:lnTo>
                  <a:lnTo>
                    <a:pt x="3902942" y="15626"/>
                  </a:lnTo>
                  <a:lnTo>
                    <a:pt x="3902942" y="758295"/>
                  </a:lnTo>
                  <a:lnTo>
                    <a:pt x="3901271" y="766573"/>
                  </a:lnTo>
                  <a:lnTo>
                    <a:pt x="3896714" y="773333"/>
                  </a:lnTo>
                  <a:lnTo>
                    <a:pt x="3889954" y="777890"/>
                  </a:lnTo>
                  <a:lnTo>
                    <a:pt x="3881676" y="779561"/>
                  </a:lnTo>
                  <a:close/>
                </a:path>
              </a:pathLst>
            </a:custGeom>
            <a:solidFill>
              <a:srgbClr val="1839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7877" y="3440460"/>
              <a:ext cx="177179" cy="141758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44116" y="3305235"/>
            <a:ext cx="3301365" cy="471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000"/>
              </a:lnSpc>
              <a:spcBef>
                <a:spcPts val="100"/>
              </a:spcBef>
            </a:pPr>
            <a:r>
              <a:rPr sz="11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Tokens</a:t>
            </a:r>
            <a:r>
              <a:rPr sz="11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are</a:t>
            </a:r>
            <a:r>
              <a:rPr sz="11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short-lived</a:t>
            </a:r>
            <a:r>
              <a:rPr sz="11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sz="11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refreshable,</a:t>
            </a:r>
            <a:r>
              <a:rPr sz="11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minimizing </a:t>
            </a:r>
            <a:r>
              <a:rPr sz="11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exposure</a:t>
            </a:r>
            <a:r>
              <a:rPr sz="11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risk.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37001" y="1766379"/>
            <a:ext cx="117792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97B8FF"/>
                </a:solidFill>
                <a:latin typeface="Verdana"/>
                <a:cs typeface="Verdana"/>
              </a:rPr>
              <a:t>Testing</a:t>
            </a:r>
            <a:r>
              <a:rPr sz="1350" spc="-45" dirty="0">
                <a:solidFill>
                  <a:srgbClr val="97B8F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97B8FF"/>
                </a:solidFill>
                <a:latin typeface="Verdana"/>
                <a:cs typeface="Verdana"/>
              </a:rPr>
              <a:t>Tools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49701" y="2166863"/>
            <a:ext cx="1880870" cy="1554480"/>
          </a:xfrm>
          <a:custGeom>
            <a:avLst/>
            <a:gdLst/>
            <a:ahLst/>
            <a:cxnLst/>
            <a:rect l="l" t="t" r="r" b="b"/>
            <a:pathLst>
              <a:path w="1880870" h="1554479">
                <a:moveTo>
                  <a:pt x="1859333" y="1553988"/>
                </a:moveTo>
                <a:lnTo>
                  <a:pt x="21258" y="1553988"/>
                </a:lnTo>
                <a:lnTo>
                  <a:pt x="12983" y="1552318"/>
                </a:lnTo>
                <a:lnTo>
                  <a:pt x="6226" y="1547762"/>
                </a:lnTo>
                <a:lnTo>
                  <a:pt x="1670" y="1541005"/>
                </a:lnTo>
                <a:lnTo>
                  <a:pt x="0" y="1532730"/>
                </a:lnTo>
                <a:lnTo>
                  <a:pt x="0" y="21258"/>
                </a:lnTo>
                <a:lnTo>
                  <a:pt x="1670" y="12983"/>
                </a:lnTo>
                <a:lnTo>
                  <a:pt x="6226" y="6226"/>
                </a:lnTo>
                <a:lnTo>
                  <a:pt x="12983" y="1670"/>
                </a:lnTo>
                <a:lnTo>
                  <a:pt x="21258" y="0"/>
                </a:lnTo>
                <a:lnTo>
                  <a:pt x="1864971" y="0"/>
                </a:lnTo>
                <a:lnTo>
                  <a:pt x="1870378" y="2239"/>
                </a:lnTo>
                <a:lnTo>
                  <a:pt x="1878351" y="10213"/>
                </a:lnTo>
                <a:lnTo>
                  <a:pt x="1880591" y="15620"/>
                </a:lnTo>
                <a:lnTo>
                  <a:pt x="1880591" y="1532730"/>
                </a:lnTo>
                <a:lnTo>
                  <a:pt x="1878921" y="1541005"/>
                </a:lnTo>
                <a:lnTo>
                  <a:pt x="1874365" y="1547762"/>
                </a:lnTo>
                <a:lnTo>
                  <a:pt x="1867607" y="1552318"/>
                </a:lnTo>
                <a:lnTo>
                  <a:pt x="1859333" y="1553988"/>
                </a:lnTo>
                <a:close/>
              </a:path>
            </a:pathLst>
          </a:custGeom>
          <a:solidFill>
            <a:srgbClr val="2626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878759" y="2289064"/>
            <a:ext cx="1609090" cy="1226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0D6DE"/>
                </a:solidFill>
                <a:latin typeface="Verdana"/>
                <a:cs typeface="Verdana"/>
              </a:rPr>
              <a:t>Swagger</a:t>
            </a:r>
            <a:r>
              <a:rPr sz="1350" spc="-10" dirty="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E0D6DE"/>
                </a:solidFill>
                <a:latin typeface="Verdana"/>
                <a:cs typeface="Verdana"/>
              </a:rPr>
              <a:t>UI</a:t>
            </a:r>
            <a:endParaRPr sz="1350">
              <a:latin typeface="Verdana"/>
              <a:cs typeface="Verdana"/>
            </a:endParaRPr>
          </a:p>
          <a:p>
            <a:pPr marL="12700" marR="5080">
              <a:lnSpc>
                <a:spcPct val="133000"/>
              </a:lnSpc>
              <a:spcBef>
                <a:spcPts val="815"/>
              </a:spcBef>
            </a:pPr>
            <a:r>
              <a:rPr sz="11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Interactive</a:t>
            </a:r>
            <a:r>
              <a:rPr sz="110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API </a:t>
            </a:r>
            <a:r>
              <a:rPr sz="11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documentation</a:t>
            </a:r>
            <a:r>
              <a:rPr sz="1100" spc="-7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E0D6DE"/>
                </a:solidFill>
                <a:latin typeface="Lucida Sans Unicode"/>
                <a:cs typeface="Lucida Sans Unicode"/>
              </a:rPr>
              <a:t>with</a:t>
            </a:r>
            <a:r>
              <a:rPr sz="110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live endpoint</a:t>
            </a:r>
            <a:r>
              <a:rPr sz="110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 testing </a:t>
            </a:r>
            <a:r>
              <a:rPr sz="11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and </a:t>
            </a:r>
            <a:r>
              <a:rPr sz="11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schema</a:t>
            </a:r>
            <a:r>
              <a:rPr sz="110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validation.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772052" y="2166863"/>
            <a:ext cx="1880870" cy="1554480"/>
          </a:xfrm>
          <a:custGeom>
            <a:avLst/>
            <a:gdLst/>
            <a:ahLst/>
            <a:cxnLst/>
            <a:rect l="l" t="t" r="r" b="b"/>
            <a:pathLst>
              <a:path w="1880870" h="1554479">
                <a:moveTo>
                  <a:pt x="1859332" y="1553988"/>
                </a:moveTo>
                <a:lnTo>
                  <a:pt x="21258" y="1553988"/>
                </a:lnTo>
                <a:lnTo>
                  <a:pt x="12983" y="1552318"/>
                </a:lnTo>
                <a:lnTo>
                  <a:pt x="6226" y="1547762"/>
                </a:lnTo>
                <a:lnTo>
                  <a:pt x="1670" y="1541005"/>
                </a:lnTo>
                <a:lnTo>
                  <a:pt x="0" y="1532730"/>
                </a:lnTo>
                <a:lnTo>
                  <a:pt x="0" y="21258"/>
                </a:lnTo>
                <a:lnTo>
                  <a:pt x="1670" y="12983"/>
                </a:lnTo>
                <a:lnTo>
                  <a:pt x="6226" y="6226"/>
                </a:lnTo>
                <a:lnTo>
                  <a:pt x="12983" y="1670"/>
                </a:lnTo>
                <a:lnTo>
                  <a:pt x="21258" y="0"/>
                </a:lnTo>
                <a:lnTo>
                  <a:pt x="1864970" y="0"/>
                </a:lnTo>
                <a:lnTo>
                  <a:pt x="1870377" y="2239"/>
                </a:lnTo>
                <a:lnTo>
                  <a:pt x="1878351" y="10213"/>
                </a:lnTo>
                <a:lnTo>
                  <a:pt x="1880591" y="15620"/>
                </a:lnTo>
                <a:lnTo>
                  <a:pt x="1880591" y="1532730"/>
                </a:lnTo>
                <a:lnTo>
                  <a:pt x="1878920" y="1541005"/>
                </a:lnTo>
                <a:lnTo>
                  <a:pt x="1874364" y="1547762"/>
                </a:lnTo>
                <a:lnTo>
                  <a:pt x="1867607" y="1552318"/>
                </a:lnTo>
                <a:lnTo>
                  <a:pt x="1859332" y="1553988"/>
                </a:lnTo>
                <a:close/>
              </a:path>
            </a:pathLst>
          </a:custGeom>
          <a:solidFill>
            <a:srgbClr val="2626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901111" y="2289064"/>
            <a:ext cx="1602740" cy="1226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solidFill>
                  <a:srgbClr val="E0D6DE"/>
                </a:solidFill>
                <a:latin typeface="Verdana"/>
                <a:cs typeface="Verdana"/>
              </a:rPr>
              <a:t>Postman</a:t>
            </a:r>
            <a:endParaRPr sz="1350">
              <a:latin typeface="Verdana"/>
              <a:cs typeface="Verdana"/>
            </a:endParaRPr>
          </a:p>
          <a:p>
            <a:pPr marL="12700" marR="5080">
              <a:lnSpc>
                <a:spcPct val="133000"/>
              </a:lnSpc>
              <a:spcBef>
                <a:spcPts val="815"/>
              </a:spcBef>
            </a:pPr>
            <a:r>
              <a:rPr sz="110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Collection-</a:t>
            </a:r>
            <a:r>
              <a:rPr sz="110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based</a:t>
            </a:r>
            <a:r>
              <a:rPr sz="1100" spc="1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testing </a:t>
            </a:r>
            <a:r>
              <a:rPr sz="110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for</a:t>
            </a:r>
            <a:r>
              <a:rPr sz="1100" spc="-7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auth</a:t>
            </a:r>
            <a:r>
              <a:rPr sz="1100" spc="-7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ﬂows,</a:t>
            </a:r>
            <a:r>
              <a:rPr sz="1100" spc="-7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invoice </a:t>
            </a:r>
            <a:r>
              <a:rPr sz="110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CRUD,</a:t>
            </a:r>
            <a:r>
              <a:rPr sz="1100" spc="-8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and</a:t>
            </a:r>
            <a:r>
              <a:rPr sz="1100" spc="-8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payment scenarios.</a:t>
            </a:r>
            <a:endParaRPr sz="11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34608" y="233991"/>
            <a:ext cx="3768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/>
              <a:t>DevOps</a:t>
            </a:r>
            <a:r>
              <a:rPr sz="1800" spc="-220" dirty="0"/>
              <a:t> </a:t>
            </a:r>
            <a:r>
              <a:rPr sz="1800" spc="50" dirty="0"/>
              <a:t>Pipeline</a:t>
            </a:r>
            <a:r>
              <a:rPr sz="1800" spc="-220" dirty="0"/>
              <a:t> </a:t>
            </a:r>
            <a:r>
              <a:rPr sz="1800" spc="-60" dirty="0"/>
              <a:t>&amp;</a:t>
            </a:r>
            <a:r>
              <a:rPr sz="1800" spc="-215" dirty="0"/>
              <a:t> </a:t>
            </a:r>
            <a:r>
              <a:rPr sz="1800" dirty="0"/>
              <a:t>Future</a:t>
            </a:r>
            <a:r>
              <a:rPr sz="1800" spc="-220" dirty="0"/>
              <a:t> </a:t>
            </a:r>
            <a:r>
              <a:rPr sz="1800" spc="65" dirty="0"/>
              <a:t>Scope</a:t>
            </a:r>
            <a:endParaRPr sz="1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2298" y="668610"/>
            <a:ext cx="6419404" cy="288867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399963" y="733365"/>
            <a:ext cx="982344" cy="53721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80"/>
              </a:spcBef>
            </a:pPr>
            <a:r>
              <a:rPr sz="1050" spc="65" dirty="0">
                <a:solidFill>
                  <a:srgbClr val="E0D6DE"/>
                </a:solidFill>
                <a:latin typeface="Verdana"/>
                <a:cs typeface="Verdana"/>
              </a:rPr>
              <a:t>Code</a:t>
            </a:r>
            <a:r>
              <a:rPr sz="1050" spc="-145" dirty="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E0D6DE"/>
                </a:solidFill>
                <a:latin typeface="Verdana"/>
                <a:cs typeface="Verdana"/>
              </a:rPr>
              <a:t>Commit</a:t>
            </a:r>
            <a:endParaRPr sz="1050">
              <a:latin typeface="Verdana"/>
              <a:cs typeface="Verdana"/>
            </a:endParaRPr>
          </a:p>
          <a:p>
            <a:pPr marL="81280" marR="73025" algn="ctr">
              <a:lnSpc>
                <a:spcPts val="880"/>
              </a:lnSpc>
              <a:spcBef>
                <a:spcPts val="535"/>
              </a:spcBef>
            </a:pPr>
            <a:r>
              <a:rPr sz="850" dirty="0">
                <a:solidFill>
                  <a:srgbClr val="E0D6DE"/>
                </a:solidFill>
                <a:latin typeface="Lucida Sans Unicode"/>
                <a:cs typeface="Lucida Sans Unicode"/>
              </a:rPr>
              <a:t>Push</a:t>
            </a:r>
            <a:r>
              <a:rPr sz="850" spc="-6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changes</a:t>
            </a:r>
            <a:r>
              <a:rPr sz="850" spc="-6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to </a:t>
            </a: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GitHub</a:t>
            </a:r>
            <a:endParaRPr sz="85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43050" y="2899877"/>
            <a:ext cx="924560" cy="53721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80"/>
              </a:spcBef>
            </a:pPr>
            <a:r>
              <a:rPr sz="1050" dirty="0">
                <a:solidFill>
                  <a:srgbClr val="E0D6DE"/>
                </a:solidFill>
                <a:latin typeface="Verdana"/>
                <a:cs typeface="Verdana"/>
              </a:rPr>
              <a:t>Build</a:t>
            </a:r>
            <a:r>
              <a:rPr sz="1050" spc="-70" dirty="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sz="1050" spc="-40" dirty="0">
                <a:solidFill>
                  <a:srgbClr val="E0D6DE"/>
                </a:solidFill>
                <a:latin typeface="Verdana"/>
                <a:cs typeface="Verdana"/>
              </a:rPr>
              <a:t>&amp;</a:t>
            </a:r>
            <a:r>
              <a:rPr sz="1050" spc="-70" dirty="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sz="1050" spc="-20" dirty="0">
                <a:solidFill>
                  <a:srgbClr val="E0D6DE"/>
                </a:solidFill>
                <a:latin typeface="Verdana"/>
                <a:cs typeface="Verdana"/>
              </a:rPr>
              <a:t>Test</a:t>
            </a:r>
            <a:endParaRPr sz="1050">
              <a:latin typeface="Verdana"/>
              <a:cs typeface="Verdana"/>
            </a:endParaRPr>
          </a:p>
          <a:p>
            <a:pPr marL="12700" marR="5080" algn="ctr">
              <a:lnSpc>
                <a:spcPts val="880"/>
              </a:lnSpc>
              <a:spcBef>
                <a:spcPts val="535"/>
              </a:spcBef>
            </a:pPr>
            <a:r>
              <a:rPr sz="85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CI</a:t>
            </a:r>
            <a:r>
              <a:rPr sz="850" spc="-6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runs</a:t>
            </a:r>
            <a:r>
              <a:rPr sz="850" spc="-6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via</a:t>
            </a:r>
            <a:r>
              <a:rPr sz="850" spc="-5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GitHub </a:t>
            </a: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Actions</a:t>
            </a:r>
            <a:endParaRPr sz="85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00830" y="769242"/>
            <a:ext cx="1000760" cy="426084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580"/>
              </a:spcBef>
            </a:pPr>
            <a:r>
              <a:rPr sz="1050" spc="-10" dirty="0">
                <a:solidFill>
                  <a:srgbClr val="E0D6DE"/>
                </a:solidFill>
                <a:latin typeface="Verdana"/>
                <a:cs typeface="Verdana"/>
              </a:rPr>
              <a:t>Containerize</a:t>
            </a: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850" dirty="0">
                <a:solidFill>
                  <a:srgbClr val="E0D6DE"/>
                </a:solidFill>
                <a:latin typeface="Lucida Sans Unicode"/>
                <a:cs typeface="Lucida Sans Unicode"/>
              </a:rPr>
              <a:t>Build</a:t>
            </a:r>
            <a:r>
              <a:rPr sz="85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Docker</a:t>
            </a:r>
            <a:r>
              <a:rPr sz="85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image</a:t>
            </a:r>
            <a:endParaRPr sz="85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89227" y="2899877"/>
            <a:ext cx="846455" cy="53721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80"/>
              </a:spcBef>
            </a:pPr>
            <a:r>
              <a:rPr sz="1050" spc="-10" dirty="0">
                <a:solidFill>
                  <a:srgbClr val="E0D6DE"/>
                </a:solidFill>
                <a:latin typeface="Verdana"/>
                <a:cs typeface="Verdana"/>
              </a:rPr>
              <a:t>Deploy</a:t>
            </a:r>
            <a:endParaRPr sz="1050">
              <a:latin typeface="Verdana"/>
              <a:cs typeface="Verdana"/>
            </a:endParaRPr>
          </a:p>
          <a:p>
            <a:pPr marL="12700" marR="5080" algn="ctr">
              <a:lnSpc>
                <a:spcPts val="880"/>
              </a:lnSpc>
              <a:spcBef>
                <a:spcPts val="535"/>
              </a:spcBef>
            </a:pPr>
            <a:r>
              <a:rPr sz="85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Release</a:t>
            </a:r>
            <a:r>
              <a:rPr sz="850" spc="-6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to</a:t>
            </a:r>
            <a:r>
              <a:rPr sz="850" spc="-6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55" dirty="0">
                <a:solidFill>
                  <a:srgbClr val="E0D6DE"/>
                </a:solidFill>
                <a:latin typeface="Lucida Sans Unicode"/>
                <a:cs typeface="Lucida Sans Unicode"/>
              </a:rPr>
              <a:t>Azure </a:t>
            </a: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cloud</a:t>
            </a:r>
            <a:endParaRPr sz="8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49597" y="3609718"/>
            <a:ext cx="575119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Automated </a:t>
            </a:r>
            <a:r>
              <a:rPr sz="7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pipelines ensure </a:t>
            </a:r>
            <a:r>
              <a:rPr sz="7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every</a:t>
            </a:r>
            <a:r>
              <a:rPr sz="7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7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code</a:t>
            </a:r>
            <a:r>
              <a:rPr sz="7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 change</a:t>
            </a:r>
            <a:r>
              <a:rPr sz="7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70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is</a:t>
            </a:r>
            <a:r>
              <a:rPr sz="7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 built, </a:t>
            </a:r>
            <a:r>
              <a:rPr sz="7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tested, </a:t>
            </a:r>
            <a:r>
              <a:rPr sz="7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and</a:t>
            </a:r>
            <a:r>
              <a:rPr sz="7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7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deployed</a:t>
            </a:r>
            <a:r>
              <a:rPr sz="7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 consistently </a:t>
            </a:r>
            <a:r>
              <a:rPr sz="700" spc="-85" dirty="0">
                <a:solidFill>
                  <a:srgbClr val="E0D6DE"/>
                </a:solidFill>
                <a:latin typeface="Lucida Sans Unicode"/>
                <a:cs typeface="Lucida Sans Unicode"/>
              </a:rPr>
              <a:t>—</a:t>
            </a:r>
            <a:r>
              <a:rPr sz="7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7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reducing </a:t>
            </a:r>
            <a:r>
              <a:rPr sz="7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release </a:t>
            </a:r>
            <a:r>
              <a:rPr sz="70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risk</a:t>
            </a:r>
            <a:r>
              <a:rPr sz="7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7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and</a:t>
            </a:r>
            <a:r>
              <a:rPr sz="7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 accelerating</a:t>
            </a:r>
            <a:r>
              <a:rPr sz="7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7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delivery.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49597" y="3861635"/>
            <a:ext cx="7289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97B8FF"/>
                </a:solidFill>
                <a:latin typeface="Verdana"/>
                <a:cs typeface="Verdana"/>
              </a:rPr>
              <a:t>What's</a:t>
            </a:r>
            <a:r>
              <a:rPr sz="900" spc="-100" dirty="0">
                <a:solidFill>
                  <a:srgbClr val="97B8FF"/>
                </a:solidFill>
                <a:latin typeface="Verdana"/>
                <a:cs typeface="Verdana"/>
              </a:rPr>
              <a:t> </a:t>
            </a:r>
            <a:r>
              <a:rPr sz="900" spc="-20" dirty="0">
                <a:solidFill>
                  <a:srgbClr val="97B8FF"/>
                </a:solidFill>
                <a:latin typeface="Verdana"/>
                <a:cs typeface="Verdana"/>
              </a:rPr>
              <a:t>Next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05197" y="4069002"/>
            <a:ext cx="114300" cy="601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409" dirty="0">
                <a:solidFill>
                  <a:srgbClr val="E0D6DE"/>
                </a:solidFill>
                <a:latin typeface="Arial Black"/>
                <a:cs typeface="Arial Black"/>
              </a:rPr>
              <a:t>·</a:t>
            </a:r>
            <a:endParaRPr sz="7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7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sz="700" spc="409" dirty="0">
                <a:solidFill>
                  <a:srgbClr val="E0D6DE"/>
                </a:solidFill>
                <a:latin typeface="Arial Black"/>
                <a:cs typeface="Arial Black"/>
              </a:rPr>
              <a:t>·</a:t>
            </a:r>
            <a:endParaRPr sz="7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7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sz="700" spc="409" dirty="0">
                <a:solidFill>
                  <a:srgbClr val="E0D6DE"/>
                </a:solidFill>
                <a:latin typeface="Arial Black"/>
                <a:cs typeface="Arial Black"/>
              </a:rPr>
              <a:t>·</a:t>
            </a:r>
            <a:endParaRPr sz="7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92497" y="4058334"/>
            <a:ext cx="2765425" cy="729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700" spc="-55" dirty="0">
                <a:solidFill>
                  <a:srgbClr val="E0D6DE"/>
                </a:solidFill>
                <a:latin typeface="Arial Black"/>
                <a:cs typeface="Arial Black"/>
              </a:rPr>
              <a:t>Azure</a:t>
            </a:r>
            <a:r>
              <a:rPr sz="700" spc="-50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700" spc="-40" dirty="0">
                <a:solidFill>
                  <a:srgbClr val="E0D6DE"/>
                </a:solidFill>
                <a:latin typeface="Arial Black"/>
                <a:cs typeface="Arial Black"/>
              </a:rPr>
              <a:t>Cloud</a:t>
            </a:r>
            <a:r>
              <a:rPr sz="700" spc="-50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700" spc="-45" dirty="0">
                <a:solidFill>
                  <a:srgbClr val="E0D6DE"/>
                </a:solidFill>
                <a:latin typeface="Arial Black"/>
                <a:cs typeface="Arial Black"/>
              </a:rPr>
              <a:t>Migration</a:t>
            </a:r>
            <a:r>
              <a:rPr sz="700" spc="-60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700" spc="-85" dirty="0">
                <a:solidFill>
                  <a:srgbClr val="E0D6DE"/>
                </a:solidFill>
                <a:latin typeface="Lucida Sans Unicode"/>
                <a:cs typeface="Lucida Sans Unicode"/>
              </a:rPr>
              <a:t>—</a:t>
            </a:r>
            <a:r>
              <a:rPr sz="70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700" dirty="0">
                <a:solidFill>
                  <a:srgbClr val="E0D6DE"/>
                </a:solidFill>
                <a:latin typeface="Lucida Sans Unicode"/>
                <a:cs typeface="Lucida Sans Unicode"/>
              </a:rPr>
              <a:t>Scalable</a:t>
            </a:r>
            <a:r>
              <a:rPr sz="70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70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hosting</a:t>
            </a:r>
            <a:r>
              <a:rPr sz="70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700" dirty="0">
                <a:solidFill>
                  <a:srgbClr val="E0D6DE"/>
                </a:solidFill>
                <a:latin typeface="Lucida Sans Unicode"/>
                <a:cs typeface="Lucida Sans Unicode"/>
              </a:rPr>
              <a:t>with</a:t>
            </a:r>
            <a:r>
              <a:rPr sz="70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7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managed</a:t>
            </a:r>
            <a:r>
              <a:rPr sz="70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700" dirty="0">
                <a:solidFill>
                  <a:srgbClr val="E0D6DE"/>
                </a:solidFill>
                <a:latin typeface="Lucida Sans Unicode"/>
                <a:cs typeface="Lucida Sans Unicode"/>
              </a:rPr>
              <a:t>SQL</a:t>
            </a:r>
            <a:r>
              <a:rPr sz="700" spc="-5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7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and</a:t>
            </a:r>
            <a:r>
              <a:rPr sz="700" spc="50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70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App</a:t>
            </a:r>
            <a:r>
              <a:rPr sz="700" spc="-4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7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Services</a:t>
            </a:r>
            <a:endParaRPr sz="700">
              <a:latin typeface="Lucida Sans Unicode"/>
              <a:cs typeface="Lucida Sans Unicode"/>
            </a:endParaRPr>
          </a:p>
          <a:p>
            <a:pPr marL="12700" marR="158750">
              <a:lnSpc>
                <a:spcPct val="110000"/>
              </a:lnSpc>
            </a:pPr>
            <a:r>
              <a:rPr sz="700" spc="-45" dirty="0">
                <a:solidFill>
                  <a:srgbClr val="E0D6DE"/>
                </a:solidFill>
                <a:latin typeface="Arial Black"/>
                <a:cs typeface="Arial Black"/>
              </a:rPr>
              <a:t>AI-</a:t>
            </a:r>
            <a:r>
              <a:rPr sz="700" spc="-55" dirty="0">
                <a:solidFill>
                  <a:srgbClr val="E0D6DE"/>
                </a:solidFill>
                <a:latin typeface="Arial Black"/>
                <a:cs typeface="Arial Black"/>
              </a:rPr>
              <a:t>Powered</a:t>
            </a:r>
            <a:r>
              <a:rPr sz="700" spc="-30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700" spc="-55" dirty="0">
                <a:solidFill>
                  <a:srgbClr val="E0D6DE"/>
                </a:solidFill>
                <a:latin typeface="Arial Black"/>
                <a:cs typeface="Arial Black"/>
              </a:rPr>
              <a:t>Analytics</a:t>
            </a:r>
            <a:r>
              <a:rPr sz="700" spc="-40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700" spc="-85" dirty="0">
                <a:solidFill>
                  <a:srgbClr val="E0D6DE"/>
                </a:solidFill>
                <a:latin typeface="Lucida Sans Unicode"/>
                <a:cs typeface="Lucida Sans Unicode"/>
              </a:rPr>
              <a:t>—</a:t>
            </a:r>
            <a:r>
              <a:rPr sz="7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7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Predictive</a:t>
            </a:r>
            <a:r>
              <a:rPr sz="7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 billing trends</a:t>
            </a:r>
            <a:r>
              <a:rPr sz="700" spc="-1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7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and</a:t>
            </a:r>
            <a:r>
              <a:rPr sz="7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7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anomaly detection</a:t>
            </a:r>
            <a:endParaRPr sz="700">
              <a:latin typeface="Lucida Sans Unicode"/>
              <a:cs typeface="Lucida Sans Unicode"/>
            </a:endParaRPr>
          </a:p>
          <a:p>
            <a:pPr marL="12700" marR="365760">
              <a:lnSpc>
                <a:spcPct val="110000"/>
              </a:lnSpc>
            </a:pPr>
            <a:r>
              <a:rPr sz="700" spc="-55" dirty="0">
                <a:solidFill>
                  <a:srgbClr val="E0D6DE"/>
                </a:solidFill>
                <a:latin typeface="Arial Black"/>
                <a:cs typeface="Arial Black"/>
              </a:rPr>
              <a:t>Power</a:t>
            </a:r>
            <a:r>
              <a:rPr sz="700" spc="-35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700" spc="-70" dirty="0">
                <a:solidFill>
                  <a:srgbClr val="E0D6DE"/>
                </a:solidFill>
                <a:latin typeface="Arial Black"/>
                <a:cs typeface="Arial Black"/>
              </a:rPr>
              <a:t>BI</a:t>
            </a:r>
            <a:r>
              <a:rPr sz="700" spc="-35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700" spc="-45" dirty="0">
                <a:solidFill>
                  <a:srgbClr val="E0D6DE"/>
                </a:solidFill>
                <a:latin typeface="Arial Black"/>
                <a:cs typeface="Arial Black"/>
              </a:rPr>
              <a:t>Integration</a:t>
            </a:r>
            <a:r>
              <a:rPr sz="700" spc="-50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700" spc="-85" dirty="0">
                <a:solidFill>
                  <a:srgbClr val="E0D6DE"/>
                </a:solidFill>
                <a:latin typeface="Lucida Sans Unicode"/>
                <a:cs typeface="Lucida Sans Unicode"/>
              </a:rPr>
              <a:t>—</a:t>
            </a:r>
            <a:r>
              <a:rPr sz="7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700" dirty="0">
                <a:solidFill>
                  <a:srgbClr val="E0D6DE"/>
                </a:solidFill>
                <a:latin typeface="Lucida Sans Unicode"/>
                <a:cs typeface="Lucida Sans Unicode"/>
              </a:rPr>
              <a:t>Embedded</a:t>
            </a:r>
            <a:r>
              <a:rPr sz="7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 executive reports and</a:t>
            </a:r>
            <a:r>
              <a:rPr sz="7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 scheduled</a:t>
            </a:r>
            <a:r>
              <a:rPr sz="7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7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data</a:t>
            </a:r>
            <a:r>
              <a:rPr sz="7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7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exports</a:t>
            </a:r>
            <a:endParaRPr sz="700">
              <a:latin typeface="Lucida Sans Unicode"/>
              <a:cs typeface="Lucida Sans Unicode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690244" y="3886572"/>
            <a:ext cx="3096260" cy="526415"/>
            <a:chOff x="4690244" y="3886572"/>
            <a:chExt cx="3096260" cy="526415"/>
          </a:xfrm>
        </p:grpSpPr>
        <p:sp>
          <p:nvSpPr>
            <p:cNvPr id="13" name="object 13"/>
            <p:cNvSpPr/>
            <p:nvPr/>
          </p:nvSpPr>
          <p:spPr>
            <a:xfrm>
              <a:off x="4690244" y="3886572"/>
              <a:ext cx="3096260" cy="526415"/>
            </a:xfrm>
            <a:custGeom>
              <a:avLst/>
              <a:gdLst/>
              <a:ahLst/>
              <a:cxnLst/>
              <a:rect l="l" t="t" r="r" b="b"/>
              <a:pathLst>
                <a:path w="3096259" h="526414">
                  <a:moveTo>
                    <a:pt x="3089972" y="525958"/>
                  </a:moveTo>
                  <a:lnTo>
                    <a:pt x="6247" y="525958"/>
                  </a:lnTo>
                  <a:lnTo>
                    <a:pt x="0" y="519711"/>
                  </a:lnTo>
                  <a:lnTo>
                    <a:pt x="0" y="13953"/>
                  </a:lnTo>
                  <a:lnTo>
                    <a:pt x="0" y="6247"/>
                  </a:lnTo>
                  <a:lnTo>
                    <a:pt x="6247" y="0"/>
                  </a:lnTo>
                  <a:lnTo>
                    <a:pt x="3085966" y="0"/>
                  </a:lnTo>
                  <a:lnTo>
                    <a:pt x="3089515" y="1470"/>
                  </a:lnTo>
                  <a:lnTo>
                    <a:pt x="3092133" y="4086"/>
                  </a:lnTo>
                  <a:lnTo>
                    <a:pt x="3094749" y="6703"/>
                  </a:lnTo>
                  <a:lnTo>
                    <a:pt x="3096219" y="10252"/>
                  </a:lnTo>
                  <a:lnTo>
                    <a:pt x="3096219" y="519711"/>
                  </a:lnTo>
                  <a:lnTo>
                    <a:pt x="3089972" y="525958"/>
                  </a:lnTo>
                  <a:close/>
                </a:path>
              </a:pathLst>
            </a:custGeom>
            <a:solidFill>
              <a:srgbClr val="0018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83262" y="4021410"/>
              <a:ext cx="116234" cy="93017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979813" y="3937783"/>
            <a:ext cx="2564765" cy="377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7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7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7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current</a:t>
            </a:r>
            <a:r>
              <a:rPr sz="7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7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architecture</a:t>
            </a:r>
            <a:r>
              <a:rPr sz="7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7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is</a:t>
            </a:r>
            <a:r>
              <a:rPr sz="7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7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cloud-</a:t>
            </a:r>
            <a:r>
              <a:rPr sz="7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ready </a:t>
            </a:r>
            <a:r>
              <a:rPr sz="7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—</a:t>
            </a:r>
            <a:r>
              <a:rPr sz="7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7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containerization</a:t>
            </a:r>
            <a:r>
              <a:rPr sz="7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7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via</a:t>
            </a:r>
            <a:r>
              <a:rPr sz="700" spc="5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7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Docker</a:t>
            </a:r>
            <a:r>
              <a:rPr sz="7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7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sz="7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7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CI/CD</a:t>
            </a:r>
            <a:r>
              <a:rPr sz="7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700" dirty="0">
                <a:solidFill>
                  <a:srgbClr val="FFFFFF"/>
                </a:solidFill>
                <a:latin typeface="Lucida Sans Unicode"/>
                <a:cs typeface="Lucida Sans Unicode"/>
              </a:rPr>
              <a:t>via</a:t>
            </a:r>
            <a:r>
              <a:rPr sz="7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7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GitHub</a:t>
            </a:r>
            <a:r>
              <a:rPr sz="7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7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Actions </a:t>
            </a:r>
            <a:r>
              <a:rPr sz="700" dirty="0">
                <a:solidFill>
                  <a:srgbClr val="FFFFFF"/>
                </a:solidFill>
                <a:latin typeface="Lucida Sans Unicode"/>
                <a:cs typeface="Lucida Sans Unicode"/>
              </a:rPr>
              <a:t>lay</a:t>
            </a:r>
            <a:r>
              <a:rPr sz="7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7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7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7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foundation</a:t>
            </a:r>
            <a:r>
              <a:rPr sz="7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for</a:t>
            </a:r>
            <a:r>
              <a:rPr sz="7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7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700" spc="5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7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seamless</a:t>
            </a:r>
            <a:r>
              <a:rPr sz="7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7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Azure</a:t>
            </a:r>
            <a:r>
              <a:rPr sz="7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7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transition.</a:t>
            </a:r>
            <a:endParaRPr sz="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6060C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035">
              <a:lnSpc>
                <a:spcPct val="100000"/>
              </a:lnSpc>
              <a:spcBef>
                <a:spcPts val="100"/>
              </a:spcBef>
            </a:pPr>
            <a:r>
              <a:rPr sz="2250" dirty="0"/>
              <a:t>Dashboard</a:t>
            </a:r>
            <a:r>
              <a:rPr sz="2250" spc="-170" dirty="0"/>
              <a:t> </a:t>
            </a:r>
            <a:r>
              <a:rPr sz="2250" spc="-75" dirty="0"/>
              <a:t>&amp;</a:t>
            </a:r>
            <a:r>
              <a:rPr sz="2250" spc="-165" dirty="0"/>
              <a:t> </a:t>
            </a:r>
            <a:r>
              <a:rPr sz="2250" spc="100" dirty="0"/>
              <a:t>Application</a:t>
            </a:r>
            <a:r>
              <a:rPr sz="2250" spc="-170" dirty="0"/>
              <a:t> </a:t>
            </a:r>
            <a:r>
              <a:rPr sz="2250" spc="-10" dirty="0"/>
              <a:t>Screens</a:t>
            </a:r>
            <a:endParaRPr sz="2250"/>
          </a:p>
        </p:txBody>
      </p:sp>
      <p:sp>
        <p:nvSpPr>
          <p:cNvPr id="5" name="object 5"/>
          <p:cNvSpPr txBox="1"/>
          <p:nvPr/>
        </p:nvSpPr>
        <p:spPr>
          <a:xfrm>
            <a:off x="585366" y="894150"/>
            <a:ext cx="11468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Dashboard</a:t>
            </a:r>
            <a:r>
              <a:rPr sz="90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9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Analytics:</a:t>
            </a:r>
            <a:endParaRPr sz="900">
              <a:latin typeface="Lucida Sans Unicode"/>
              <a:cs typeface="Lucida Sans Unicode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8066" y="1183630"/>
            <a:ext cx="2462435" cy="132218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85366" y="2759732"/>
            <a:ext cx="8210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Audit</a:t>
            </a:r>
            <a:r>
              <a:rPr sz="90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90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Tracking:</a:t>
            </a:r>
            <a:endParaRPr sz="900">
              <a:latin typeface="Lucida Sans Unicode"/>
              <a:cs typeface="Lucida Sans Unicode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8066" y="3074045"/>
            <a:ext cx="2462435" cy="130470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333552" y="894150"/>
            <a:ext cx="11645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Invoice</a:t>
            </a:r>
            <a:r>
              <a:rPr sz="90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9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Management:</a:t>
            </a:r>
            <a:endParaRPr sz="900">
              <a:latin typeface="Lucida Sans Unicode"/>
              <a:cs typeface="Lucida Sans Unicode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46251" y="1183629"/>
            <a:ext cx="2474935" cy="131422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333552" y="2705579"/>
            <a:ext cx="10699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Revenue </a:t>
            </a:r>
            <a:r>
              <a:rPr sz="9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Reporting:</a:t>
            </a:r>
            <a:endParaRPr sz="900">
              <a:latin typeface="Lucida Sans Unicode"/>
              <a:cs typeface="Lucida Sans Unicode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20831" y="3056780"/>
            <a:ext cx="2425399" cy="129673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080919" y="894150"/>
            <a:ext cx="10102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Payment</a:t>
            </a:r>
            <a:r>
              <a:rPr sz="90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 Tracking:</a:t>
            </a:r>
            <a:endParaRPr sz="900">
              <a:latin typeface="Lucida Sans Unicode"/>
              <a:cs typeface="Lucida Sans Unicode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93620" y="1183631"/>
            <a:ext cx="2446791" cy="131422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080919" y="2759732"/>
            <a:ext cx="7410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Swagger</a:t>
            </a:r>
            <a:r>
              <a:rPr sz="900" spc="-5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90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API</a:t>
            </a:r>
            <a:r>
              <a:rPr sz="900" spc="-50" dirty="0">
                <a:solidFill>
                  <a:srgbClr val="E0D6DE"/>
                </a:solidFill>
                <a:latin typeface="Lucida Sans Unicode"/>
                <a:cs typeface="Lucida Sans Unicode"/>
              </a:rPr>
              <a:t> :</a:t>
            </a:r>
            <a:endParaRPr sz="900">
              <a:latin typeface="Lucida Sans Unicode"/>
              <a:cs typeface="Lucida Sans Unicode"/>
            </a:endParaRPr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93619" y="3023516"/>
            <a:ext cx="2461616" cy="1322188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85366" y="4632266"/>
            <a:ext cx="577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E0D6DE"/>
                </a:solidFill>
                <a:latin typeface="Lucida Sans Unicode"/>
                <a:cs typeface="Lucida Sans Unicode"/>
              </a:rPr>
              <a:t>.</a:t>
            </a:r>
            <a:endParaRPr sz="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5679" y="391567"/>
            <a:ext cx="471360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40" dirty="0"/>
              <a:t>Key</a:t>
            </a:r>
            <a:r>
              <a:rPr sz="2700" spc="-280" dirty="0"/>
              <a:t> </a:t>
            </a:r>
            <a:r>
              <a:rPr sz="2700" dirty="0"/>
              <a:t>Learnings</a:t>
            </a:r>
            <a:r>
              <a:rPr sz="2700" spc="-275" dirty="0"/>
              <a:t> </a:t>
            </a:r>
            <a:r>
              <a:rPr sz="2700" spc="-85" dirty="0"/>
              <a:t>&amp;</a:t>
            </a:r>
            <a:r>
              <a:rPr sz="2700" spc="-280" dirty="0"/>
              <a:t> </a:t>
            </a:r>
            <a:r>
              <a:rPr sz="2700" spc="-10" dirty="0"/>
              <a:t>Takeaways</a:t>
            </a:r>
            <a:endParaRPr sz="2700"/>
          </a:p>
        </p:txBody>
      </p:sp>
      <p:sp>
        <p:nvSpPr>
          <p:cNvPr id="3" name="object 3"/>
          <p:cNvSpPr/>
          <p:nvPr/>
        </p:nvSpPr>
        <p:spPr>
          <a:xfrm>
            <a:off x="488379" y="1128787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293018" y="313952"/>
                </a:moveTo>
                <a:lnTo>
                  <a:pt x="20934" y="313952"/>
                </a:lnTo>
                <a:lnTo>
                  <a:pt x="12785" y="312307"/>
                </a:lnTo>
                <a:lnTo>
                  <a:pt x="6131" y="307821"/>
                </a:lnTo>
                <a:lnTo>
                  <a:pt x="1645" y="301167"/>
                </a:lnTo>
                <a:lnTo>
                  <a:pt x="0" y="293018"/>
                </a:lnTo>
                <a:lnTo>
                  <a:pt x="0" y="20934"/>
                </a:lnTo>
                <a:lnTo>
                  <a:pt x="1645" y="12785"/>
                </a:lnTo>
                <a:lnTo>
                  <a:pt x="6131" y="6131"/>
                </a:lnTo>
                <a:lnTo>
                  <a:pt x="12785" y="1645"/>
                </a:lnTo>
                <a:lnTo>
                  <a:pt x="20934" y="0"/>
                </a:lnTo>
                <a:lnTo>
                  <a:pt x="298570" y="0"/>
                </a:lnTo>
                <a:lnTo>
                  <a:pt x="303895" y="2205"/>
                </a:lnTo>
                <a:lnTo>
                  <a:pt x="311747" y="10057"/>
                </a:lnTo>
                <a:lnTo>
                  <a:pt x="313952" y="15382"/>
                </a:lnTo>
                <a:lnTo>
                  <a:pt x="313952" y="293018"/>
                </a:lnTo>
                <a:lnTo>
                  <a:pt x="312307" y="301167"/>
                </a:lnTo>
                <a:lnTo>
                  <a:pt x="307821" y="307821"/>
                </a:lnTo>
                <a:lnTo>
                  <a:pt x="301167" y="312307"/>
                </a:lnTo>
                <a:lnTo>
                  <a:pt x="293018" y="313952"/>
                </a:lnTo>
                <a:close/>
              </a:path>
            </a:pathLst>
          </a:custGeom>
          <a:solidFill>
            <a:srgbClr val="2626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27000" y="1157152"/>
            <a:ext cx="1819275" cy="9169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93345">
              <a:lnSpc>
                <a:spcPct val="104000"/>
              </a:lnSpc>
              <a:spcBef>
                <a:spcPts val="35"/>
              </a:spcBef>
            </a:pPr>
            <a:r>
              <a:rPr sz="1350" spc="20" dirty="0">
                <a:solidFill>
                  <a:srgbClr val="E0D6DE"/>
                </a:solidFill>
                <a:latin typeface="Verdana"/>
                <a:cs typeface="Verdana"/>
              </a:rPr>
              <a:t>Architecture</a:t>
            </a:r>
            <a:r>
              <a:rPr sz="1350" spc="65" dirty="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E0D6DE"/>
                </a:solidFill>
                <a:latin typeface="Verdana"/>
                <a:cs typeface="Verdana"/>
              </a:rPr>
              <a:t>Drives Scalability</a:t>
            </a:r>
            <a:endParaRPr sz="1350">
              <a:latin typeface="Verdana"/>
              <a:cs typeface="Verdana"/>
            </a:endParaRPr>
          </a:p>
          <a:p>
            <a:pPr marL="12700" marR="5080">
              <a:lnSpc>
                <a:spcPct val="132000"/>
              </a:lnSpc>
              <a:spcBef>
                <a:spcPts val="385"/>
              </a:spcBef>
            </a:pPr>
            <a:r>
              <a:rPr sz="105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Clear</a:t>
            </a:r>
            <a:r>
              <a:rPr sz="105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layers</a:t>
            </a:r>
            <a:r>
              <a:rPr sz="105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make</a:t>
            </a:r>
            <a:r>
              <a:rPr sz="105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the</a:t>
            </a:r>
            <a:r>
              <a:rPr sz="105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system </a:t>
            </a:r>
            <a:r>
              <a:rPr sz="105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easier</a:t>
            </a:r>
            <a:r>
              <a:rPr sz="1050" spc="-7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to</a:t>
            </a:r>
            <a:r>
              <a:rPr sz="105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grow</a:t>
            </a:r>
            <a:r>
              <a:rPr sz="105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and</a:t>
            </a:r>
            <a:r>
              <a:rPr sz="1050" spc="-7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adapt.</a:t>
            </a:r>
            <a:endParaRPr sz="105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67967" y="1128787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293018" y="313952"/>
                </a:moveTo>
                <a:lnTo>
                  <a:pt x="20934" y="313952"/>
                </a:lnTo>
                <a:lnTo>
                  <a:pt x="12785" y="312307"/>
                </a:lnTo>
                <a:lnTo>
                  <a:pt x="6131" y="307821"/>
                </a:lnTo>
                <a:lnTo>
                  <a:pt x="1645" y="301167"/>
                </a:lnTo>
                <a:lnTo>
                  <a:pt x="0" y="293018"/>
                </a:lnTo>
                <a:lnTo>
                  <a:pt x="0" y="20934"/>
                </a:lnTo>
                <a:lnTo>
                  <a:pt x="1645" y="12785"/>
                </a:lnTo>
                <a:lnTo>
                  <a:pt x="6131" y="6131"/>
                </a:lnTo>
                <a:lnTo>
                  <a:pt x="12785" y="1645"/>
                </a:lnTo>
                <a:lnTo>
                  <a:pt x="20934" y="0"/>
                </a:lnTo>
                <a:lnTo>
                  <a:pt x="298570" y="0"/>
                </a:lnTo>
                <a:lnTo>
                  <a:pt x="303895" y="2205"/>
                </a:lnTo>
                <a:lnTo>
                  <a:pt x="311747" y="10057"/>
                </a:lnTo>
                <a:lnTo>
                  <a:pt x="313952" y="15382"/>
                </a:lnTo>
                <a:lnTo>
                  <a:pt x="313952" y="293018"/>
                </a:lnTo>
                <a:lnTo>
                  <a:pt x="312307" y="301167"/>
                </a:lnTo>
                <a:lnTo>
                  <a:pt x="307821" y="307821"/>
                </a:lnTo>
                <a:lnTo>
                  <a:pt x="301167" y="312307"/>
                </a:lnTo>
                <a:lnTo>
                  <a:pt x="293018" y="313952"/>
                </a:lnTo>
                <a:close/>
              </a:path>
            </a:pathLst>
          </a:custGeom>
          <a:solidFill>
            <a:srgbClr val="2626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89652" y="1142977"/>
            <a:ext cx="29114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71775" algn="l"/>
              </a:tabLst>
            </a:pPr>
            <a:r>
              <a:rPr sz="1600" spc="-395" dirty="0">
                <a:solidFill>
                  <a:srgbClr val="E0D6DE"/>
                </a:solidFill>
                <a:latin typeface="Verdana"/>
                <a:cs typeface="Verdana"/>
              </a:rPr>
              <a:t>1</a:t>
            </a:r>
            <a:r>
              <a:rPr sz="1600" dirty="0">
                <a:solidFill>
                  <a:srgbClr val="E0D6DE"/>
                </a:solidFill>
                <a:latin typeface="Verdana"/>
                <a:cs typeface="Verdana"/>
              </a:rPr>
              <a:t>	</a:t>
            </a:r>
            <a:r>
              <a:rPr sz="1600" spc="-50" dirty="0">
                <a:solidFill>
                  <a:srgbClr val="E0D6DE"/>
                </a:solidFill>
                <a:latin typeface="Verdana"/>
                <a:cs typeface="Verdana"/>
              </a:rPr>
              <a:t>2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06589" y="1157152"/>
            <a:ext cx="1993264" cy="1128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0D6DE"/>
                </a:solidFill>
                <a:latin typeface="Verdana"/>
                <a:cs typeface="Verdana"/>
              </a:rPr>
              <a:t>Security</a:t>
            </a:r>
            <a:r>
              <a:rPr sz="1350" spc="-10" dirty="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E0D6DE"/>
                </a:solidFill>
                <a:latin typeface="Verdana"/>
                <a:cs typeface="Verdana"/>
              </a:rPr>
              <a:t>Is</a:t>
            </a: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350" spc="65" dirty="0">
                <a:solidFill>
                  <a:srgbClr val="E0D6DE"/>
                </a:solidFill>
                <a:latin typeface="Verdana"/>
                <a:cs typeface="Verdana"/>
              </a:rPr>
              <a:t>Non-</a:t>
            </a:r>
            <a:r>
              <a:rPr sz="1350" spc="45" dirty="0">
                <a:solidFill>
                  <a:srgbClr val="E0D6DE"/>
                </a:solidFill>
                <a:latin typeface="Verdana"/>
                <a:cs typeface="Verdana"/>
              </a:rPr>
              <a:t>Negotiable</a:t>
            </a:r>
            <a:endParaRPr sz="1350">
              <a:latin typeface="Verdana"/>
              <a:cs typeface="Verdana"/>
            </a:endParaRPr>
          </a:p>
          <a:p>
            <a:pPr marL="12700" marR="5080">
              <a:lnSpc>
                <a:spcPct val="132000"/>
              </a:lnSpc>
              <a:spcBef>
                <a:spcPts val="385"/>
              </a:spcBef>
            </a:pPr>
            <a:r>
              <a:rPr sz="1050" dirty="0">
                <a:solidFill>
                  <a:srgbClr val="E0D6DE"/>
                </a:solidFill>
                <a:latin typeface="Lucida Sans Unicode"/>
                <a:cs typeface="Lucida Sans Unicode"/>
              </a:rPr>
              <a:t>Build</a:t>
            </a:r>
            <a:r>
              <a:rPr sz="10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authentication,</a:t>
            </a:r>
            <a:r>
              <a:rPr sz="1050" spc="-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access </a:t>
            </a:r>
            <a:r>
              <a:rPr sz="105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control,</a:t>
            </a:r>
            <a:r>
              <a:rPr sz="1050" spc="-8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and</a:t>
            </a:r>
            <a:r>
              <a:rPr sz="1050" spc="-7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auditability</a:t>
            </a:r>
            <a:r>
              <a:rPr sz="1050" spc="-7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in</a:t>
            </a:r>
            <a:r>
              <a:rPr sz="1050" spc="-7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from </a:t>
            </a:r>
            <a:r>
              <a:rPr sz="1050" dirty="0">
                <a:solidFill>
                  <a:srgbClr val="E0D6DE"/>
                </a:solidFill>
                <a:latin typeface="Lucida Sans Unicode"/>
                <a:cs typeface="Lucida Sans Unicode"/>
              </a:rPr>
              <a:t>day</a:t>
            </a:r>
            <a:r>
              <a:rPr sz="1050" spc="-10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one.</a:t>
            </a:r>
            <a:endParaRPr sz="10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047630" y="1128787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293018" y="313952"/>
                </a:moveTo>
                <a:lnTo>
                  <a:pt x="20934" y="313952"/>
                </a:lnTo>
                <a:lnTo>
                  <a:pt x="12785" y="312307"/>
                </a:lnTo>
                <a:lnTo>
                  <a:pt x="6131" y="307821"/>
                </a:lnTo>
                <a:lnTo>
                  <a:pt x="1645" y="301167"/>
                </a:lnTo>
                <a:lnTo>
                  <a:pt x="0" y="293018"/>
                </a:lnTo>
                <a:lnTo>
                  <a:pt x="0" y="20934"/>
                </a:lnTo>
                <a:lnTo>
                  <a:pt x="1645" y="12785"/>
                </a:lnTo>
                <a:lnTo>
                  <a:pt x="6131" y="6131"/>
                </a:lnTo>
                <a:lnTo>
                  <a:pt x="12785" y="1645"/>
                </a:lnTo>
                <a:lnTo>
                  <a:pt x="20934" y="0"/>
                </a:lnTo>
                <a:lnTo>
                  <a:pt x="298571" y="0"/>
                </a:lnTo>
                <a:lnTo>
                  <a:pt x="303895" y="2205"/>
                </a:lnTo>
                <a:lnTo>
                  <a:pt x="311747" y="10057"/>
                </a:lnTo>
                <a:lnTo>
                  <a:pt x="313953" y="15382"/>
                </a:lnTo>
                <a:lnTo>
                  <a:pt x="313953" y="293018"/>
                </a:lnTo>
                <a:lnTo>
                  <a:pt x="312308" y="301167"/>
                </a:lnTo>
                <a:lnTo>
                  <a:pt x="307821" y="307821"/>
                </a:lnTo>
                <a:lnTo>
                  <a:pt x="301167" y="312307"/>
                </a:lnTo>
                <a:lnTo>
                  <a:pt x="293018" y="313952"/>
                </a:lnTo>
                <a:close/>
              </a:path>
            </a:pathLst>
          </a:custGeom>
          <a:solidFill>
            <a:srgbClr val="2626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128893" y="1142977"/>
            <a:ext cx="15176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E0D6DE"/>
                </a:solidFill>
                <a:latin typeface="Verdana"/>
                <a:cs typeface="Verdana"/>
              </a:rPr>
              <a:t>3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86252" y="1157152"/>
            <a:ext cx="2034539" cy="9169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234315">
              <a:lnSpc>
                <a:spcPct val="104000"/>
              </a:lnSpc>
              <a:spcBef>
                <a:spcPts val="35"/>
              </a:spcBef>
            </a:pPr>
            <a:r>
              <a:rPr sz="1350" dirty="0">
                <a:solidFill>
                  <a:srgbClr val="E0D6DE"/>
                </a:solidFill>
                <a:latin typeface="Verdana"/>
                <a:cs typeface="Verdana"/>
              </a:rPr>
              <a:t>DevOps</a:t>
            </a:r>
            <a:r>
              <a:rPr sz="1350" spc="70" dirty="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E0D6DE"/>
                </a:solidFill>
                <a:latin typeface="Verdana"/>
                <a:cs typeface="Verdana"/>
              </a:rPr>
              <a:t>Accelerates Delivery</a:t>
            </a:r>
            <a:endParaRPr sz="1350">
              <a:latin typeface="Verdana"/>
              <a:cs typeface="Verdana"/>
            </a:endParaRPr>
          </a:p>
          <a:p>
            <a:pPr marL="12700" marR="5080">
              <a:lnSpc>
                <a:spcPct val="132000"/>
              </a:lnSpc>
              <a:spcBef>
                <a:spcPts val="385"/>
              </a:spcBef>
            </a:pPr>
            <a:r>
              <a:rPr sz="105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Automation</a:t>
            </a:r>
            <a:r>
              <a:rPr sz="105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speeds releases </a:t>
            </a:r>
            <a:r>
              <a:rPr sz="105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and </a:t>
            </a:r>
            <a:r>
              <a:rPr sz="105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reduces</a:t>
            </a:r>
            <a:r>
              <a:rPr sz="1050" spc="-9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deployment</a:t>
            </a:r>
            <a:r>
              <a:rPr sz="1050" spc="-8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risk.</a:t>
            </a:r>
            <a:endParaRPr sz="105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88379" y="2634258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293018" y="313952"/>
                </a:moveTo>
                <a:lnTo>
                  <a:pt x="20934" y="313952"/>
                </a:lnTo>
                <a:lnTo>
                  <a:pt x="12785" y="312307"/>
                </a:lnTo>
                <a:lnTo>
                  <a:pt x="6131" y="307821"/>
                </a:lnTo>
                <a:lnTo>
                  <a:pt x="1645" y="301167"/>
                </a:lnTo>
                <a:lnTo>
                  <a:pt x="0" y="293018"/>
                </a:lnTo>
                <a:lnTo>
                  <a:pt x="0" y="20934"/>
                </a:lnTo>
                <a:lnTo>
                  <a:pt x="1645" y="12785"/>
                </a:lnTo>
                <a:lnTo>
                  <a:pt x="6131" y="6131"/>
                </a:lnTo>
                <a:lnTo>
                  <a:pt x="12785" y="1645"/>
                </a:lnTo>
                <a:lnTo>
                  <a:pt x="20934" y="0"/>
                </a:lnTo>
                <a:lnTo>
                  <a:pt x="298570" y="0"/>
                </a:lnTo>
                <a:lnTo>
                  <a:pt x="303895" y="2205"/>
                </a:lnTo>
                <a:lnTo>
                  <a:pt x="311747" y="10057"/>
                </a:lnTo>
                <a:lnTo>
                  <a:pt x="313952" y="15382"/>
                </a:lnTo>
                <a:lnTo>
                  <a:pt x="313952" y="293018"/>
                </a:lnTo>
                <a:lnTo>
                  <a:pt x="312307" y="301167"/>
                </a:lnTo>
                <a:lnTo>
                  <a:pt x="307821" y="307821"/>
                </a:lnTo>
                <a:lnTo>
                  <a:pt x="301167" y="312307"/>
                </a:lnTo>
                <a:lnTo>
                  <a:pt x="293018" y="313952"/>
                </a:lnTo>
                <a:close/>
              </a:path>
            </a:pathLst>
          </a:custGeom>
          <a:solidFill>
            <a:srgbClr val="2626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66391" y="2648449"/>
            <a:ext cx="1581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E0D6DE"/>
                </a:solidFill>
                <a:latin typeface="Verdana"/>
                <a:cs typeface="Verdana"/>
              </a:rPr>
              <a:t>4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7000" y="2662622"/>
            <a:ext cx="3862704" cy="487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0" dirty="0">
                <a:solidFill>
                  <a:srgbClr val="E0D6DE"/>
                </a:solidFill>
                <a:latin typeface="Verdana"/>
                <a:cs typeface="Verdana"/>
              </a:rPr>
              <a:t>Testing</a:t>
            </a:r>
            <a:r>
              <a:rPr sz="1350" spc="-15" dirty="0">
                <a:solidFill>
                  <a:srgbClr val="E0D6DE"/>
                </a:solidFill>
                <a:latin typeface="Verdana"/>
                <a:cs typeface="Verdana"/>
              </a:rPr>
              <a:t> </a:t>
            </a:r>
            <a:r>
              <a:rPr sz="1350" spc="10" dirty="0">
                <a:solidFill>
                  <a:srgbClr val="E0D6DE"/>
                </a:solidFill>
                <a:latin typeface="Verdana"/>
                <a:cs typeface="Verdana"/>
              </a:rPr>
              <a:t>Protects</a:t>
            </a:r>
            <a:r>
              <a:rPr sz="1350" spc="-10" dirty="0">
                <a:solidFill>
                  <a:srgbClr val="E0D6DE"/>
                </a:solidFill>
                <a:latin typeface="Verdana"/>
                <a:cs typeface="Verdana"/>
              </a:rPr>
              <a:t> Reliability</a:t>
            </a: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0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Layered</a:t>
            </a:r>
            <a:r>
              <a:rPr sz="1050" spc="-6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testing</a:t>
            </a:r>
            <a:r>
              <a:rPr sz="1050" spc="-6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catches</a:t>
            </a:r>
            <a:r>
              <a:rPr sz="1050" spc="-6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issues</a:t>
            </a:r>
            <a:r>
              <a:rPr sz="1050" spc="-6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early</a:t>
            </a:r>
            <a:r>
              <a:rPr sz="1050" spc="-5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and</a:t>
            </a:r>
            <a:r>
              <a:rPr sz="1050" spc="-6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keeps</a:t>
            </a:r>
            <a:r>
              <a:rPr sz="1050" spc="-6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releases</a:t>
            </a:r>
            <a:r>
              <a:rPr sz="1050" spc="-6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stable.</a:t>
            </a:r>
            <a:endParaRPr sz="105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5679" y="3386477"/>
            <a:ext cx="2802255" cy="353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55" dirty="0">
                <a:solidFill>
                  <a:srgbClr val="97B8FF"/>
                </a:solidFill>
                <a:latin typeface="Verdana"/>
                <a:cs typeface="Verdana"/>
              </a:rPr>
              <a:t>Practical</a:t>
            </a:r>
            <a:r>
              <a:rPr sz="2150" spc="-240" dirty="0">
                <a:solidFill>
                  <a:srgbClr val="97B8FF"/>
                </a:solidFill>
                <a:latin typeface="Verdana"/>
                <a:cs typeface="Verdana"/>
              </a:rPr>
              <a:t> </a:t>
            </a:r>
            <a:r>
              <a:rPr sz="2150" spc="-10" dirty="0">
                <a:solidFill>
                  <a:srgbClr val="97B8FF"/>
                </a:solidFill>
                <a:latin typeface="Verdana"/>
                <a:cs typeface="Verdana"/>
              </a:rPr>
              <a:t>Takeaways</a:t>
            </a:r>
            <a:endParaRPr sz="215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9004" y="3895763"/>
            <a:ext cx="4104004" cy="65913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421640" indent="-408940">
              <a:lnSpc>
                <a:spcPct val="100000"/>
              </a:lnSpc>
              <a:spcBef>
                <a:spcPts val="500"/>
              </a:spcBef>
              <a:buChar char="·"/>
              <a:tabLst>
                <a:tab pos="421640" algn="l"/>
              </a:tabLst>
            </a:pPr>
            <a:r>
              <a:rPr sz="1050" spc="-80" dirty="0">
                <a:solidFill>
                  <a:srgbClr val="E0D6DE"/>
                </a:solidFill>
                <a:latin typeface="Arial Black"/>
                <a:cs typeface="Arial Black"/>
              </a:rPr>
              <a:t>Design</a:t>
            </a:r>
            <a:r>
              <a:rPr sz="1050" spc="-55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1050" spc="-40" dirty="0">
                <a:solidFill>
                  <a:srgbClr val="E0D6DE"/>
                </a:solidFill>
                <a:latin typeface="Arial Black"/>
                <a:cs typeface="Arial Black"/>
              </a:rPr>
              <a:t>for</a:t>
            </a:r>
            <a:r>
              <a:rPr sz="1050" spc="-55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1050" spc="-80" dirty="0">
                <a:solidFill>
                  <a:srgbClr val="E0D6DE"/>
                </a:solidFill>
                <a:latin typeface="Arial Black"/>
                <a:cs typeface="Arial Black"/>
              </a:rPr>
              <a:t>change:</a:t>
            </a:r>
            <a:r>
              <a:rPr sz="1050" spc="-55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105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Keep</a:t>
            </a:r>
            <a:r>
              <a:rPr sz="105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responsibilities</a:t>
            </a:r>
            <a:r>
              <a:rPr sz="105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isolated.</a:t>
            </a:r>
            <a:endParaRPr sz="1050">
              <a:latin typeface="Lucida Sans Unicode"/>
              <a:cs typeface="Lucida Sans Unicode"/>
            </a:endParaRPr>
          </a:p>
          <a:p>
            <a:pPr marL="421640" indent="-408940">
              <a:lnSpc>
                <a:spcPct val="100000"/>
              </a:lnSpc>
              <a:spcBef>
                <a:spcPts val="405"/>
              </a:spcBef>
              <a:buChar char="·"/>
              <a:tabLst>
                <a:tab pos="421640" algn="l"/>
              </a:tabLst>
            </a:pPr>
            <a:r>
              <a:rPr sz="1050" spc="-50" dirty="0">
                <a:solidFill>
                  <a:srgbClr val="E0D6DE"/>
                </a:solidFill>
                <a:latin typeface="Arial Black"/>
                <a:cs typeface="Arial Black"/>
              </a:rPr>
              <a:t>Build</a:t>
            </a:r>
            <a:r>
              <a:rPr sz="1050" spc="-85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1050" spc="-70" dirty="0">
                <a:solidFill>
                  <a:srgbClr val="E0D6DE"/>
                </a:solidFill>
                <a:latin typeface="Arial Black"/>
                <a:cs typeface="Arial Black"/>
              </a:rPr>
              <a:t>security</a:t>
            </a:r>
            <a:r>
              <a:rPr sz="1050" spc="-85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1050" spc="-50" dirty="0">
                <a:solidFill>
                  <a:srgbClr val="E0D6DE"/>
                </a:solidFill>
                <a:latin typeface="Arial Black"/>
                <a:cs typeface="Arial Black"/>
              </a:rPr>
              <a:t>early:</a:t>
            </a:r>
            <a:r>
              <a:rPr sz="1050" spc="-90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105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Deﬁne</a:t>
            </a:r>
            <a:r>
              <a:rPr sz="1050" spc="-6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access</a:t>
            </a:r>
            <a:r>
              <a:rPr sz="105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and</a:t>
            </a:r>
            <a:r>
              <a:rPr sz="1050" spc="-6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audit</a:t>
            </a:r>
            <a:r>
              <a:rPr sz="105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rules</a:t>
            </a:r>
            <a:r>
              <a:rPr sz="1050" spc="-6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upfront.</a:t>
            </a:r>
            <a:endParaRPr sz="1050">
              <a:latin typeface="Lucida Sans Unicode"/>
              <a:cs typeface="Lucida Sans Unicode"/>
            </a:endParaRPr>
          </a:p>
          <a:p>
            <a:pPr marL="421640" indent="-408940">
              <a:lnSpc>
                <a:spcPct val="100000"/>
              </a:lnSpc>
              <a:spcBef>
                <a:spcPts val="405"/>
              </a:spcBef>
              <a:buChar char="·"/>
              <a:tabLst>
                <a:tab pos="421640" algn="l"/>
              </a:tabLst>
            </a:pPr>
            <a:r>
              <a:rPr sz="1050" spc="-80" dirty="0">
                <a:solidFill>
                  <a:srgbClr val="E0D6DE"/>
                </a:solidFill>
                <a:latin typeface="Arial Black"/>
                <a:cs typeface="Arial Black"/>
              </a:rPr>
              <a:t>Automate</a:t>
            </a:r>
            <a:r>
              <a:rPr sz="1050" spc="-85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1050" spc="-50" dirty="0">
                <a:solidFill>
                  <a:srgbClr val="E0D6DE"/>
                </a:solidFill>
                <a:latin typeface="Arial Black"/>
                <a:cs typeface="Arial Black"/>
              </a:rPr>
              <a:t>delivery:</a:t>
            </a:r>
            <a:r>
              <a:rPr sz="1050" spc="-95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105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Use</a:t>
            </a:r>
            <a:r>
              <a:rPr sz="105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65" dirty="0">
                <a:solidFill>
                  <a:srgbClr val="E0D6DE"/>
                </a:solidFill>
                <a:latin typeface="Lucida Sans Unicode"/>
                <a:cs typeface="Lucida Sans Unicode"/>
              </a:rPr>
              <a:t>CI/CD </a:t>
            </a:r>
            <a:r>
              <a:rPr sz="105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to</a:t>
            </a:r>
            <a:r>
              <a:rPr sz="105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ship</a:t>
            </a:r>
            <a:r>
              <a:rPr sz="105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faster</a:t>
            </a:r>
            <a:r>
              <a:rPr sz="105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E0D6DE"/>
                </a:solidFill>
                <a:latin typeface="Lucida Sans Unicode"/>
                <a:cs typeface="Lucida Sans Unicode"/>
              </a:rPr>
              <a:t>with</a:t>
            </a:r>
            <a:r>
              <a:rPr sz="105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less</a:t>
            </a:r>
            <a:r>
              <a:rPr sz="105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10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risk.</a:t>
            </a:r>
            <a:endParaRPr sz="10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9235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788" y="821542"/>
            <a:ext cx="7713980" cy="39841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850" spc="-65" dirty="0">
                <a:solidFill>
                  <a:srgbClr val="E0D6DE"/>
                </a:solidFill>
                <a:latin typeface="Arial Black"/>
                <a:cs typeface="Arial Black"/>
              </a:rPr>
              <a:t>The</a:t>
            </a:r>
            <a:r>
              <a:rPr sz="850" spc="-45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850" spc="-65" dirty="0">
                <a:solidFill>
                  <a:srgbClr val="E0D6DE"/>
                </a:solidFill>
                <a:latin typeface="Arial Black"/>
                <a:cs typeface="Arial Black"/>
              </a:rPr>
              <a:t>Finance</a:t>
            </a:r>
            <a:r>
              <a:rPr sz="850" spc="-40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850" spc="-45" dirty="0">
                <a:solidFill>
                  <a:srgbClr val="E0D6DE"/>
                </a:solidFill>
                <a:latin typeface="Arial Black"/>
                <a:cs typeface="Arial Black"/>
              </a:rPr>
              <a:t>Billing </a:t>
            </a:r>
            <a:r>
              <a:rPr sz="850" spc="-65" dirty="0">
                <a:solidFill>
                  <a:srgbClr val="E0D6DE"/>
                </a:solidFill>
                <a:latin typeface="Arial Black"/>
                <a:cs typeface="Arial Black"/>
              </a:rPr>
              <a:t>Analytics</a:t>
            </a:r>
            <a:r>
              <a:rPr sz="850" spc="-40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850" spc="-75" dirty="0">
                <a:solidFill>
                  <a:srgbClr val="E0D6DE"/>
                </a:solidFill>
                <a:latin typeface="Arial Black"/>
                <a:cs typeface="Arial Black"/>
              </a:rPr>
              <a:t>System</a:t>
            </a:r>
            <a:r>
              <a:rPr sz="850" spc="-45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850" spc="-75" dirty="0">
                <a:solidFill>
                  <a:srgbClr val="E0D6DE"/>
                </a:solidFill>
                <a:latin typeface="Arial Black"/>
                <a:cs typeface="Arial Black"/>
              </a:rPr>
              <a:t>is</a:t>
            </a:r>
            <a:r>
              <a:rPr sz="850" spc="-40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850" spc="-70" dirty="0">
                <a:solidFill>
                  <a:srgbClr val="E0D6DE"/>
                </a:solidFill>
                <a:latin typeface="Arial Black"/>
                <a:cs typeface="Arial Black"/>
              </a:rPr>
              <a:t>a</a:t>
            </a:r>
            <a:r>
              <a:rPr sz="850" spc="-45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850" spc="-75" dirty="0">
                <a:solidFill>
                  <a:srgbClr val="E0D6DE"/>
                </a:solidFill>
                <a:latin typeface="Arial Black"/>
                <a:cs typeface="Arial Black"/>
              </a:rPr>
              <a:t>successful,</a:t>
            </a:r>
            <a:r>
              <a:rPr sz="850" spc="-40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850" spc="-35" dirty="0">
                <a:solidFill>
                  <a:srgbClr val="E0D6DE"/>
                </a:solidFill>
                <a:latin typeface="Arial Black"/>
                <a:cs typeface="Arial Black"/>
              </a:rPr>
              <a:t>production-</a:t>
            </a:r>
            <a:r>
              <a:rPr sz="850" spc="-55" dirty="0">
                <a:solidFill>
                  <a:srgbClr val="E0D6DE"/>
                </a:solidFill>
                <a:latin typeface="Arial Black"/>
                <a:cs typeface="Arial Black"/>
              </a:rPr>
              <a:t>ready</a:t>
            </a:r>
            <a:r>
              <a:rPr sz="850" spc="-45" dirty="0">
                <a:solidFill>
                  <a:srgbClr val="E0D6DE"/>
                </a:solidFill>
                <a:latin typeface="Arial Black"/>
                <a:cs typeface="Arial Black"/>
              </a:rPr>
              <a:t> solution</a:t>
            </a:r>
            <a:r>
              <a:rPr sz="850" spc="-40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850" spc="-45" dirty="0">
                <a:solidFill>
                  <a:srgbClr val="E0D6DE"/>
                </a:solidFill>
                <a:latin typeface="Arial Black"/>
                <a:cs typeface="Arial Black"/>
              </a:rPr>
              <a:t>that brings</a:t>
            </a:r>
            <a:r>
              <a:rPr sz="850" spc="-40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850" spc="-50" dirty="0">
                <a:solidFill>
                  <a:srgbClr val="E0D6DE"/>
                </a:solidFill>
                <a:latin typeface="Arial Black"/>
                <a:cs typeface="Arial Black"/>
              </a:rPr>
              <a:t>together</a:t>
            </a:r>
            <a:r>
              <a:rPr sz="850" spc="-45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850" spc="-80" dirty="0">
                <a:solidFill>
                  <a:srgbClr val="E0D6DE"/>
                </a:solidFill>
                <a:latin typeface="Arial Black"/>
                <a:cs typeface="Arial Black"/>
              </a:rPr>
              <a:t>secure</a:t>
            </a:r>
            <a:r>
              <a:rPr sz="850" spc="-40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850" spc="-50" dirty="0">
                <a:solidFill>
                  <a:srgbClr val="E0D6DE"/>
                </a:solidFill>
                <a:latin typeface="Arial Black"/>
                <a:cs typeface="Arial Black"/>
              </a:rPr>
              <a:t>authentication,</a:t>
            </a:r>
            <a:r>
              <a:rPr sz="850" spc="-45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850" spc="-50" dirty="0">
                <a:solidFill>
                  <a:srgbClr val="E0D6DE"/>
                </a:solidFill>
                <a:latin typeface="Arial Black"/>
                <a:cs typeface="Arial Black"/>
              </a:rPr>
              <a:t>reliable</a:t>
            </a:r>
            <a:r>
              <a:rPr sz="850" spc="-40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850" spc="-75" dirty="0">
                <a:solidFill>
                  <a:srgbClr val="E0D6DE"/>
                </a:solidFill>
                <a:latin typeface="Arial Black"/>
                <a:cs typeface="Arial Black"/>
              </a:rPr>
              <a:t>APIs,</a:t>
            </a:r>
            <a:r>
              <a:rPr sz="850" spc="-45" dirty="0">
                <a:solidFill>
                  <a:srgbClr val="E0D6DE"/>
                </a:solidFill>
                <a:latin typeface="Arial Black"/>
                <a:cs typeface="Arial Black"/>
              </a:rPr>
              <a:t> real-</a:t>
            </a:r>
            <a:r>
              <a:rPr sz="850" spc="-20" dirty="0">
                <a:solidFill>
                  <a:srgbClr val="E0D6DE"/>
                </a:solidFill>
                <a:latin typeface="Arial Black"/>
                <a:cs typeface="Arial Black"/>
              </a:rPr>
              <a:t>time </a:t>
            </a:r>
            <a:r>
              <a:rPr sz="850" spc="-55" dirty="0">
                <a:solidFill>
                  <a:srgbClr val="E0D6DE"/>
                </a:solidFill>
                <a:latin typeface="Arial Black"/>
                <a:cs typeface="Arial Black"/>
              </a:rPr>
              <a:t>analytics,</a:t>
            </a:r>
            <a:r>
              <a:rPr sz="850" spc="-45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850" spc="-40" dirty="0">
                <a:solidFill>
                  <a:srgbClr val="E0D6DE"/>
                </a:solidFill>
                <a:latin typeface="Arial Black"/>
                <a:cs typeface="Arial Black"/>
              </a:rPr>
              <a:t>and</a:t>
            </a:r>
            <a:r>
              <a:rPr sz="850" spc="-45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850" spc="-55" dirty="0">
                <a:solidFill>
                  <a:srgbClr val="E0D6DE"/>
                </a:solidFill>
                <a:latin typeface="Arial Black"/>
                <a:cs typeface="Arial Black"/>
              </a:rPr>
              <a:t>automated</a:t>
            </a:r>
            <a:r>
              <a:rPr sz="850" spc="-45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850" spc="-40" dirty="0">
                <a:solidFill>
                  <a:srgbClr val="E0D6DE"/>
                </a:solidFill>
                <a:latin typeface="Arial Black"/>
                <a:cs typeface="Arial Black"/>
              </a:rPr>
              <a:t>deployment</a:t>
            </a:r>
            <a:r>
              <a:rPr sz="850" spc="-45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850" spc="-35" dirty="0">
                <a:solidFill>
                  <a:srgbClr val="E0D6DE"/>
                </a:solidFill>
                <a:latin typeface="Arial Black"/>
                <a:cs typeface="Arial Black"/>
              </a:rPr>
              <a:t>in</a:t>
            </a:r>
            <a:r>
              <a:rPr sz="850" spc="-45" dirty="0">
                <a:solidFill>
                  <a:srgbClr val="E0D6DE"/>
                </a:solidFill>
                <a:latin typeface="Arial Black"/>
                <a:cs typeface="Arial Black"/>
              </a:rPr>
              <a:t> one </a:t>
            </a:r>
            <a:r>
              <a:rPr sz="850" spc="-50" dirty="0">
                <a:solidFill>
                  <a:srgbClr val="E0D6DE"/>
                </a:solidFill>
                <a:latin typeface="Arial Black"/>
                <a:cs typeface="Arial Black"/>
              </a:rPr>
              <a:t>enterprise-grade</a:t>
            </a:r>
            <a:r>
              <a:rPr sz="850" spc="-40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850" spc="-10" dirty="0">
                <a:solidFill>
                  <a:srgbClr val="E0D6DE"/>
                </a:solidFill>
                <a:latin typeface="Arial Black"/>
                <a:cs typeface="Arial Black"/>
              </a:rPr>
              <a:t>platform.</a:t>
            </a:r>
            <a:endParaRPr sz="850" dirty="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85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00" spc="-25" dirty="0">
                <a:solidFill>
                  <a:srgbClr val="97B8FF"/>
                </a:solidFill>
                <a:latin typeface="Verdana"/>
                <a:cs typeface="Verdana"/>
              </a:rPr>
              <a:t>Key</a:t>
            </a:r>
            <a:r>
              <a:rPr sz="1300" spc="-150" dirty="0">
                <a:solidFill>
                  <a:srgbClr val="97B8FF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97B8FF"/>
                </a:solidFill>
                <a:latin typeface="Verdana"/>
                <a:cs typeface="Verdana"/>
              </a:rPr>
              <a:t>Achievements</a:t>
            </a:r>
            <a:endParaRPr sz="13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850" dirty="0">
                <a:latin typeface="MS PGothic"/>
                <a:cs typeface="MS PGothic"/>
              </a:rPr>
              <a:t>✔</a:t>
            </a:r>
            <a:r>
              <a:rPr sz="850" spc="-70" dirty="0">
                <a:latin typeface="MS PGothic"/>
                <a:cs typeface="MS PGothic"/>
              </a:rPr>
              <a:t> </a:t>
            </a: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Secure</a:t>
            </a:r>
            <a:r>
              <a:rPr sz="850" spc="-5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60" dirty="0">
                <a:solidFill>
                  <a:srgbClr val="E0D6DE"/>
                </a:solidFill>
                <a:latin typeface="Lucida Sans Unicode"/>
                <a:cs typeface="Lucida Sans Unicode"/>
              </a:rPr>
              <a:t>JWT</a:t>
            </a:r>
            <a:r>
              <a:rPr sz="850" spc="-5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Authentication</a:t>
            </a:r>
            <a:r>
              <a:rPr sz="850" spc="-5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&amp;</a:t>
            </a:r>
            <a:r>
              <a:rPr sz="850" spc="-5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RBAC</a:t>
            </a:r>
            <a:endParaRPr sz="85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850" dirty="0">
                <a:latin typeface="MS PGothic"/>
                <a:cs typeface="MS PGothic"/>
              </a:rPr>
              <a:t>✔</a:t>
            </a:r>
            <a:r>
              <a:rPr sz="850" spc="-90" dirty="0">
                <a:latin typeface="MS PGothic"/>
                <a:cs typeface="MS PGothic"/>
              </a:rPr>
              <a:t> </a:t>
            </a: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RESTful</a:t>
            </a:r>
            <a:r>
              <a:rPr sz="85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API</a:t>
            </a:r>
            <a:r>
              <a:rPr sz="850" spc="-7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dirty="0">
                <a:solidFill>
                  <a:srgbClr val="E0D6DE"/>
                </a:solidFill>
                <a:latin typeface="Lucida Sans Unicode"/>
                <a:cs typeface="Lucida Sans Unicode"/>
              </a:rPr>
              <a:t>with</a:t>
            </a:r>
            <a:r>
              <a:rPr sz="850" spc="-7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145" dirty="0">
                <a:solidFill>
                  <a:srgbClr val="E0D6DE"/>
                </a:solidFill>
                <a:latin typeface="Lucida Sans Unicode"/>
                <a:cs typeface="Lucida Sans Unicode"/>
              </a:rPr>
              <a:t>8+</a:t>
            </a:r>
            <a:r>
              <a:rPr sz="850" spc="-7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endpoints</a:t>
            </a:r>
            <a:endParaRPr sz="85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850" dirty="0">
                <a:latin typeface="MS PGothic"/>
                <a:cs typeface="MS PGothic"/>
              </a:rPr>
              <a:t>✔</a:t>
            </a:r>
            <a:r>
              <a:rPr sz="850" spc="-65" dirty="0">
                <a:latin typeface="MS PGothic"/>
                <a:cs typeface="MS PGothic"/>
              </a:rPr>
              <a:t> </a:t>
            </a:r>
            <a:r>
              <a:rPr sz="850" spc="-65" dirty="0">
                <a:solidFill>
                  <a:srgbClr val="E0D6DE"/>
                </a:solidFill>
                <a:latin typeface="Lucida Sans Unicode"/>
                <a:cs typeface="Lucida Sans Unicode"/>
              </a:rPr>
              <a:t>Real-</a:t>
            </a: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time</a:t>
            </a:r>
            <a:r>
              <a:rPr sz="85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Revenue</a:t>
            </a:r>
            <a:r>
              <a:rPr sz="85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Analytics</a:t>
            </a:r>
            <a:r>
              <a:rPr sz="85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Dashboard</a:t>
            </a:r>
            <a:endParaRPr sz="85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850" dirty="0">
                <a:latin typeface="MS PGothic"/>
                <a:cs typeface="MS PGothic"/>
              </a:rPr>
              <a:t>✔</a:t>
            </a:r>
            <a:r>
              <a:rPr sz="850" spc="-65" dirty="0">
                <a:latin typeface="MS PGothic"/>
                <a:cs typeface="MS PGothic"/>
              </a:rPr>
              <a:t> </a:t>
            </a:r>
            <a:r>
              <a:rPr sz="85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Dockerized</a:t>
            </a:r>
            <a:r>
              <a:rPr sz="85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Deployment</a:t>
            </a:r>
            <a:r>
              <a:rPr sz="850" spc="-4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&amp;</a:t>
            </a:r>
            <a:r>
              <a:rPr sz="85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65" dirty="0">
                <a:solidFill>
                  <a:srgbClr val="E0D6DE"/>
                </a:solidFill>
                <a:latin typeface="Lucida Sans Unicode"/>
                <a:cs typeface="Lucida Sans Unicode"/>
              </a:rPr>
              <a:t>CI/CD</a:t>
            </a:r>
            <a:r>
              <a:rPr sz="85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Automation</a:t>
            </a:r>
            <a:endParaRPr sz="85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850" dirty="0">
                <a:latin typeface="MS PGothic"/>
                <a:cs typeface="MS PGothic"/>
              </a:rPr>
              <a:t>✔</a:t>
            </a:r>
            <a:r>
              <a:rPr sz="850" spc="-65" dirty="0">
                <a:latin typeface="MS PGothic"/>
                <a:cs typeface="MS PGothic"/>
              </a:rPr>
              <a:t> </a:t>
            </a:r>
            <a:r>
              <a:rPr sz="85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Comprehensive</a:t>
            </a:r>
            <a:r>
              <a:rPr sz="850" spc="-4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dirty="0">
                <a:solidFill>
                  <a:srgbClr val="E0D6DE"/>
                </a:solidFill>
                <a:latin typeface="Lucida Sans Unicode"/>
                <a:cs typeface="Lucida Sans Unicode"/>
              </a:rPr>
              <a:t>Unit</a:t>
            </a:r>
            <a:r>
              <a:rPr sz="850" spc="-4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40" dirty="0">
                <a:solidFill>
                  <a:srgbClr val="E0D6DE"/>
                </a:solidFill>
                <a:latin typeface="Lucida Sans Unicode"/>
                <a:cs typeface="Lucida Sans Unicode"/>
              </a:rPr>
              <a:t>Testing</a:t>
            </a:r>
            <a:r>
              <a:rPr sz="850" spc="-4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50" dirty="0">
                <a:solidFill>
                  <a:srgbClr val="E0D6DE"/>
                </a:solidFill>
                <a:latin typeface="Lucida Sans Unicode"/>
                <a:cs typeface="Lucida Sans Unicode"/>
              </a:rPr>
              <a:t>(12</a:t>
            </a:r>
            <a:r>
              <a:rPr sz="850" spc="-4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tests</a:t>
            </a:r>
            <a:r>
              <a:rPr sz="850" spc="-4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passed)</a:t>
            </a:r>
            <a:endParaRPr sz="85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850" dirty="0">
                <a:latin typeface="MS PGothic"/>
                <a:cs typeface="MS PGothic"/>
              </a:rPr>
              <a:t>✔</a:t>
            </a:r>
            <a:r>
              <a:rPr sz="850" spc="-55" dirty="0">
                <a:latin typeface="MS PGothic"/>
                <a:cs typeface="MS PGothic"/>
              </a:rPr>
              <a:t> </a:t>
            </a:r>
            <a:r>
              <a:rPr sz="85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Enterprise-</a:t>
            </a:r>
            <a:r>
              <a:rPr sz="850" spc="-50" dirty="0">
                <a:solidFill>
                  <a:srgbClr val="E0D6DE"/>
                </a:solidFill>
                <a:latin typeface="Lucida Sans Unicode"/>
                <a:cs typeface="Lucida Sans Unicode"/>
              </a:rPr>
              <a:t>grade</a:t>
            </a:r>
            <a:r>
              <a:rPr sz="85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 Audit </a:t>
            </a: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Logging</a:t>
            </a:r>
            <a:endParaRPr sz="85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85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1300" dirty="0">
                <a:solidFill>
                  <a:srgbClr val="97B8FF"/>
                </a:solidFill>
                <a:latin typeface="Verdana"/>
                <a:cs typeface="Verdana"/>
              </a:rPr>
              <a:t>Project</a:t>
            </a:r>
            <a:r>
              <a:rPr sz="1300" spc="80" dirty="0">
                <a:solidFill>
                  <a:srgbClr val="97B8FF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97B8FF"/>
                </a:solidFill>
                <a:latin typeface="Verdana"/>
                <a:cs typeface="Verdana"/>
              </a:rPr>
              <a:t>Impact</a:t>
            </a:r>
            <a:endParaRPr sz="1300" dirty="0">
              <a:latin typeface="Verdana"/>
              <a:cs typeface="Verdana"/>
            </a:endParaRPr>
          </a:p>
          <a:p>
            <a:pPr marL="145415" indent="-132715">
              <a:lnSpc>
                <a:spcPct val="100000"/>
              </a:lnSpc>
              <a:spcBef>
                <a:spcPts val="1190"/>
              </a:spcBef>
              <a:buChar char="·"/>
              <a:tabLst>
                <a:tab pos="145415" algn="l"/>
              </a:tabLst>
            </a:pPr>
            <a:r>
              <a:rPr sz="85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Demonstrates</a:t>
            </a:r>
            <a:r>
              <a:rPr sz="85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60" dirty="0">
                <a:solidFill>
                  <a:srgbClr val="E0D6DE"/>
                </a:solidFill>
                <a:latin typeface="Lucida Sans Unicode"/>
                <a:cs typeface="Lucida Sans Unicode"/>
              </a:rPr>
              <a:t>full-</a:t>
            </a:r>
            <a:r>
              <a:rPr sz="85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stack</a:t>
            </a:r>
            <a:r>
              <a:rPr sz="85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enterprise</a:t>
            </a:r>
            <a:r>
              <a:rPr sz="850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development</a:t>
            </a:r>
            <a:endParaRPr sz="850" dirty="0">
              <a:latin typeface="Lucida Sans Unicode"/>
              <a:cs typeface="Lucida Sans Unicode"/>
            </a:endParaRPr>
          </a:p>
          <a:p>
            <a:pPr marL="145415" indent="-132715">
              <a:lnSpc>
                <a:spcPct val="100000"/>
              </a:lnSpc>
              <a:spcBef>
                <a:spcPts val="204"/>
              </a:spcBef>
              <a:buChar char="·"/>
              <a:tabLst>
                <a:tab pos="145415" algn="l"/>
              </a:tabLst>
            </a:pPr>
            <a:r>
              <a:rPr sz="850" spc="-30" dirty="0">
                <a:solidFill>
                  <a:srgbClr val="E0D6DE"/>
                </a:solidFill>
                <a:latin typeface="Lucida Sans Unicode"/>
                <a:cs typeface="Lucida Sans Unicode"/>
              </a:rPr>
              <a:t>Production-</a:t>
            </a:r>
            <a:r>
              <a:rPr sz="85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ready</a:t>
            </a:r>
            <a:r>
              <a:rPr sz="850" spc="4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architecture</a:t>
            </a:r>
            <a:endParaRPr sz="850" dirty="0">
              <a:latin typeface="Lucida Sans Unicode"/>
              <a:cs typeface="Lucida Sans Unicode"/>
            </a:endParaRPr>
          </a:p>
          <a:p>
            <a:pPr marL="145415" indent="-132715">
              <a:lnSpc>
                <a:spcPct val="100000"/>
              </a:lnSpc>
              <a:spcBef>
                <a:spcPts val="204"/>
              </a:spcBef>
              <a:buChar char="·"/>
              <a:tabLst>
                <a:tab pos="145415" algn="l"/>
              </a:tabLst>
            </a:pPr>
            <a:r>
              <a:rPr sz="850" spc="-20" dirty="0">
                <a:solidFill>
                  <a:srgbClr val="E0D6DE"/>
                </a:solidFill>
                <a:latin typeface="Lucida Sans Unicode"/>
                <a:cs typeface="Lucida Sans Unicode"/>
              </a:rPr>
              <a:t>Industry</a:t>
            </a:r>
            <a:r>
              <a:rPr sz="85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best</a:t>
            </a:r>
            <a:r>
              <a:rPr sz="85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practices</a:t>
            </a:r>
            <a:r>
              <a:rPr sz="850" spc="-3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implementation</a:t>
            </a:r>
            <a:endParaRPr sz="85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850" dirty="0">
              <a:latin typeface="Lucida Sans Unicode"/>
              <a:cs typeface="Lucida Sans Unicode"/>
            </a:endParaRPr>
          </a:p>
          <a:p>
            <a:pPr marL="106680" algn="ctr">
              <a:lnSpc>
                <a:spcPct val="100000"/>
              </a:lnSpc>
            </a:pPr>
            <a:r>
              <a:rPr sz="1750" spc="-20" dirty="0">
                <a:solidFill>
                  <a:srgbClr val="97B8FF"/>
                </a:solidFill>
                <a:latin typeface="Verdana"/>
                <a:cs typeface="Verdana"/>
              </a:rPr>
              <a:t>Thank</a:t>
            </a:r>
            <a:r>
              <a:rPr sz="1750" spc="-185" dirty="0">
                <a:solidFill>
                  <a:srgbClr val="97B8FF"/>
                </a:solidFill>
                <a:latin typeface="Verdana"/>
                <a:cs typeface="Verdana"/>
              </a:rPr>
              <a:t> </a:t>
            </a:r>
            <a:r>
              <a:rPr sz="1750" spc="-25" dirty="0">
                <a:solidFill>
                  <a:srgbClr val="97B8FF"/>
                </a:solidFill>
                <a:latin typeface="Verdana"/>
                <a:cs typeface="Verdana"/>
              </a:rPr>
              <a:t>You</a:t>
            </a:r>
            <a:endParaRPr sz="1750" dirty="0">
              <a:latin typeface="Verdana"/>
              <a:cs typeface="Verdana"/>
            </a:endParaRPr>
          </a:p>
          <a:p>
            <a:pPr marL="107314" algn="ctr">
              <a:lnSpc>
                <a:spcPct val="100000"/>
              </a:lnSpc>
              <a:spcBef>
                <a:spcPts val="1225"/>
              </a:spcBef>
            </a:pPr>
            <a:r>
              <a:rPr sz="850" spc="-50" dirty="0">
                <a:solidFill>
                  <a:srgbClr val="E0D6DE"/>
                </a:solidFill>
                <a:latin typeface="Arial Black"/>
                <a:cs typeface="Arial Black"/>
              </a:rPr>
              <a:t>For</a:t>
            </a:r>
            <a:r>
              <a:rPr sz="850" spc="-60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850" spc="-30" dirty="0">
                <a:solidFill>
                  <a:srgbClr val="E0D6DE"/>
                </a:solidFill>
                <a:latin typeface="Arial Black"/>
                <a:cs typeface="Arial Black"/>
              </a:rPr>
              <a:t>further</a:t>
            </a:r>
            <a:r>
              <a:rPr sz="850" spc="-55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850" spc="-45" dirty="0">
                <a:solidFill>
                  <a:srgbClr val="E0D6DE"/>
                </a:solidFill>
                <a:latin typeface="Arial Black"/>
                <a:cs typeface="Arial Black"/>
              </a:rPr>
              <a:t>inquiries</a:t>
            </a:r>
            <a:r>
              <a:rPr sz="850" spc="-60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850" spc="-25" dirty="0">
                <a:solidFill>
                  <a:srgbClr val="E0D6DE"/>
                </a:solidFill>
                <a:latin typeface="Arial Black"/>
                <a:cs typeface="Arial Black"/>
              </a:rPr>
              <a:t>or</a:t>
            </a:r>
            <a:r>
              <a:rPr sz="850" spc="-55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850" spc="-70" dirty="0">
                <a:solidFill>
                  <a:srgbClr val="E0D6DE"/>
                </a:solidFill>
                <a:latin typeface="Arial Black"/>
                <a:cs typeface="Arial Black"/>
              </a:rPr>
              <a:t>a</a:t>
            </a:r>
            <a:r>
              <a:rPr sz="850" spc="-60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850" spc="-50" dirty="0">
                <a:solidFill>
                  <a:srgbClr val="E0D6DE"/>
                </a:solidFill>
                <a:latin typeface="Arial Black"/>
                <a:cs typeface="Arial Black"/>
              </a:rPr>
              <a:t>detailed</a:t>
            </a:r>
            <a:r>
              <a:rPr sz="850" spc="-55" dirty="0">
                <a:solidFill>
                  <a:srgbClr val="E0D6DE"/>
                </a:solidFill>
                <a:latin typeface="Arial Black"/>
                <a:cs typeface="Arial Black"/>
              </a:rPr>
              <a:t> </a:t>
            </a:r>
            <a:r>
              <a:rPr sz="850" spc="-10" dirty="0">
                <a:solidFill>
                  <a:srgbClr val="E0D6DE"/>
                </a:solidFill>
                <a:latin typeface="Arial Black"/>
                <a:cs typeface="Arial Black"/>
              </a:rPr>
              <a:t>demo:</a:t>
            </a:r>
            <a:endParaRPr sz="850" dirty="0">
              <a:latin typeface="Arial Black"/>
              <a:cs typeface="Arial Black"/>
            </a:endParaRPr>
          </a:p>
          <a:p>
            <a:pPr marL="107950" algn="ctr">
              <a:lnSpc>
                <a:spcPct val="100000"/>
              </a:lnSpc>
              <a:spcBef>
                <a:spcPts val="950"/>
              </a:spcBef>
            </a:pPr>
            <a:r>
              <a:rPr sz="850" spc="-10" dirty="0">
                <a:solidFill>
                  <a:srgbClr val="E0D6DE"/>
                </a:solidFill>
                <a:latin typeface="Lucida Sans Unicode"/>
                <a:cs typeface="Lucida Sans Unicode"/>
              </a:rPr>
              <a:t>Email:</a:t>
            </a:r>
            <a:r>
              <a:rPr sz="850" spc="-45" dirty="0">
                <a:solidFill>
                  <a:srgbClr val="E0D6DE"/>
                </a:solidFill>
                <a:latin typeface="Lucida Sans Unicode"/>
                <a:cs typeface="Lucida Sans Unicode"/>
              </a:rPr>
              <a:t> </a:t>
            </a:r>
            <a:r>
              <a:rPr lang="en-IN" sz="850" spc="-45" dirty="0">
                <a:solidFill>
                  <a:srgbClr val="E0D6DE"/>
                </a:solidFill>
                <a:latin typeface="Lucida Sans Unicode"/>
                <a:cs typeface="Lucida Sans Unicode"/>
                <a:hlinkClick r:id="rId2"/>
              </a:rPr>
              <a:t>giridhargopal706@gmail.com</a:t>
            </a:r>
            <a:endParaRPr lang="en-IN" sz="850" spc="-45" dirty="0">
              <a:solidFill>
                <a:srgbClr val="E0D6DE"/>
              </a:solidFill>
              <a:latin typeface="Lucida Sans Unicode"/>
              <a:cs typeface="Lucida Sans Unicode"/>
            </a:endParaRPr>
          </a:p>
          <a:p>
            <a:pPr marL="107950" algn="ctr">
              <a:lnSpc>
                <a:spcPct val="100000"/>
              </a:lnSpc>
              <a:spcBef>
                <a:spcPts val="950"/>
              </a:spcBef>
            </a:pPr>
            <a:r>
              <a:rPr sz="85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GitHub:</a:t>
            </a:r>
            <a:r>
              <a:rPr lang="en-IN" sz="850" spc="-25" dirty="0">
                <a:solidFill>
                  <a:srgbClr val="E0D6DE"/>
                </a:solidFill>
                <a:latin typeface="Lucida Sans Unicode"/>
                <a:cs typeface="Lucida Sans Unicode"/>
              </a:rPr>
              <a:t> https://github.com/Giridhar706/Finance-Billing_Analytics_System-Capstone</a:t>
            </a:r>
            <a:endParaRPr sz="85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779</Words>
  <Application>Microsoft Office PowerPoint</Application>
  <PresentationFormat>On-screen Show (16:9)</PresentationFormat>
  <Paragraphs>131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MS PGothic</vt:lpstr>
      <vt:lpstr>Arial Black</vt:lpstr>
      <vt:lpstr>Lucida Sans Unicode</vt:lpstr>
      <vt:lpstr>Verdana</vt:lpstr>
      <vt:lpstr>Office Theme</vt:lpstr>
      <vt:lpstr>Finance Billing Analytics System</vt:lpstr>
      <vt:lpstr>Executive Summary</vt:lpstr>
      <vt:lpstr>Project Overview</vt:lpstr>
      <vt:lpstr>Technology Stack A modern, layered architecture built for performance, maintainability, and cloud readiness.</vt:lpstr>
      <vt:lpstr>System Architecture</vt:lpstr>
      <vt:lpstr>Database Design</vt:lpstr>
      <vt:lpstr>Core Features</vt:lpstr>
      <vt:lpstr>Security &amp; API Testing</vt:lpstr>
      <vt:lpstr>DevOps Pipeline &amp; Future Scope</vt:lpstr>
      <vt:lpstr>Dashboard &amp; Application Screens</vt:lpstr>
      <vt:lpstr>Key Learnings &amp; Takeaways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FinanceBillingAnalytics</dc:title>
  <cp:lastModifiedBy>Giridhar Gopal</cp:lastModifiedBy>
  <cp:revision>2</cp:revision>
  <dcterms:created xsi:type="dcterms:W3CDTF">2026-06-05T06:41:52Z</dcterms:created>
  <dcterms:modified xsi:type="dcterms:W3CDTF">2026-06-05T06:51:28Z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2026-06-05T00:00:00Z</vt:filetime>
  </property>
  <property fmtid="{D5CDD505-2E9C-101B-9397-08002B2CF9AE}" pid="4" name="Creator">
    <vt:lpwstr>Google</vt:lpwstr>
  </property>
  <property fmtid="{D5CDD505-2E9C-101B-9397-08002B2CF9AE}" pid="5" name="LastSaved">
    <vt:filetime>2026-06-05T00:00:00Z</vt:filetime>
  </property>
</Properties>
</file>